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524000" y="7620000"/>
            <a:ext cx="13936884" cy="2324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2750">
                <a:solidFill>
                  <a:srgbClr val="1F2A37">
                    <a:alpha val="4500"/>
                  </a:srgbClr>
                </a:solidFill>
                <a:latin typeface="Source Han Serif CN Bold"/>
                <a:ea typeface="Source Han Serif CN Bold"/>
                <a:cs typeface="Source Han Serif CN Bold"/>
              </a:rPr>
              <a:t>MODEL EDITING</a:t>
            </a:r>
          </a:p>
        </p:txBody>
      </p:sp>
      <p:sp>
        <p:nvSpPr>
          <p:cNvPr id="4" name="Rectangle"/>
          <p:cNvSpPr/>
          <p:nvPr/>
        </p:nvSpPr>
        <p:spPr>
          <a:xfrm>
            <a:off x="1143000" y="9525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1143000" y="93345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7086600" y="3333750"/>
            <a:ext cx="152400" cy="152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7372350" y="3228975"/>
            <a:ext cx="3832384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组会工作汇报 · LLM SAFETY 方向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4038600" y="3933825"/>
            <a:ext cx="10218877" cy="1152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63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用模型编辑做 LLM 越狱防御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6515100" y="5429250"/>
            <a:ext cx="5266182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46536A"/>
                </a:solidFill>
                <a:latin typeface="Source Han Serif CN Bold"/>
                <a:ea typeface="Source Han Serif CN Bold"/>
                <a:cs typeface="Source Han Serif CN Bold"/>
              </a:rPr>
              <a:t>DELMAN 精读与我的改进猜想</a:t>
            </a:r>
          </a:p>
        </p:txBody>
      </p:sp>
      <p:sp>
        <p:nvSpPr>
          <p:cNvPr id="10" name="Rectangle"/>
          <p:cNvSpPr/>
          <p:nvPr/>
        </p:nvSpPr>
        <p:spPr>
          <a:xfrm>
            <a:off x="8686800" y="6315075"/>
            <a:ext cx="914400" cy="47625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7038975" y="6705600"/>
            <a:ext cx="421203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汇报人：＿＿＿ ｜ 2026 年 10 月 15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91028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AGENDA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628650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5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目录：从技术到我的猜想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143000" y="3238500"/>
            <a:ext cx="524523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9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01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905000" y="3333750"/>
            <a:ext cx="289560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模型编辑技术介绍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143000" y="4048125"/>
            <a:ext cx="555926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为什么需要它 · 三大流派 · ROME 原理 · 攻防两用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43000" y="4924425"/>
            <a:ext cx="587921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9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02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962150" y="5019675"/>
            <a:ext cx="3013234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DELMAN 论文精读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143000" y="5734050"/>
            <a:ext cx="484441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研究动机 · 四步方法 · 实验结论 · 设计不足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143000" y="6610350"/>
            <a:ext cx="587426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9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03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962150" y="6705600"/>
            <a:ext cx="32575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不足分析与我的猜想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143000" y="7419975"/>
            <a:ext cx="392834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三颗雷 · 两个假设 · 两周 Pilot 计划</a:t>
            </a:r>
          </a:p>
        </p:txBody>
      </p:sp>
      <p:sp>
        <p:nvSpPr>
          <p:cNvPr id="15" name="Rectangle"/>
          <p:cNvSpPr/>
          <p:nvPr/>
        </p:nvSpPr>
        <p:spPr>
          <a:xfrm>
            <a:off x="11239500" y="3238500"/>
            <a:ext cx="5905500" cy="4114800"/>
          </a:xfrm>
          <a:prstGeom prst="roundRect">
            <a:avLst>
              <a:gd name="adj" fmla="val 4166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1696700" y="3695700"/>
            <a:ext cx="13716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一句话路线图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1696700" y="4276725"/>
            <a:ext cx="403703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技术是什么 —— 微创手术式改权重</a:t>
            </a:r>
          </a:p>
        </p:txBody>
      </p:sp>
      <p:sp>
        <p:nvSpPr>
          <p:cNvPr id="18" name="Path"/>
          <p:cNvSpPr/>
          <p:nvPr/>
        </p:nvSpPr>
        <p:spPr>
          <a:xfrm>
            <a:off x="11741948" y="4941432"/>
            <a:ext cx="138103" cy="166344"/>
          </a:xfrm>
          <a:custGeom>
            <a:avLst/>
            <a:gdLst/>
            <a:ahLst/>
            <a:cxnLst/>
            <a:rect l="0" t="0" r="r" b="b"/>
            <a:pathLst>
              <a:path w="138103" h="166344">
                <a:moveTo>
                  <a:pt x="80481" y="123545"/>
                </a:moveTo>
                <a:lnTo>
                  <a:pt x="80481" y="11568"/>
                </a:lnTo>
                <a:quadBezTo>
                  <a:pt x="80619" y="6776"/>
                  <a:pt x="77134" y="3486"/>
                </a:quadBezTo>
                <a:quadBezTo>
                  <a:pt x="73843" y="0"/>
                  <a:pt x="69051" y="138"/>
                </a:quadBezTo>
                <a:quadBezTo>
                  <a:pt x="64260" y="0"/>
                  <a:pt x="60969" y="3486"/>
                </a:quadBezTo>
                <a:quadBezTo>
                  <a:pt x="57483" y="6776"/>
                  <a:pt x="57621" y="11568"/>
                </a:quadBezTo>
                <a:lnTo>
                  <a:pt x="57621" y="123545"/>
                </a:lnTo>
                <a:lnTo>
                  <a:pt x="20580" y="80329"/>
                </a:lnTo>
                <a:quadBezTo>
                  <a:pt x="17566" y="76602"/>
                  <a:pt x="12778" y="76372"/>
                </a:quadBezTo>
                <a:quadBezTo>
                  <a:pt x="8011" y="75867"/>
                  <a:pt x="4463" y="79090"/>
                </a:quadBezTo>
                <a:quadBezTo>
                  <a:pt x="735" y="82103"/>
                  <a:pt x="505" y="86891"/>
                </a:quadBezTo>
                <a:quadBezTo>
                  <a:pt x="0" y="91658"/>
                  <a:pt x="3223" y="95206"/>
                </a:quadBezTo>
                <a:lnTo>
                  <a:pt x="60373" y="161881"/>
                </a:lnTo>
                <a:quadBezTo>
                  <a:pt x="63387" y="165609"/>
                  <a:pt x="68175" y="165839"/>
                </a:quadBezTo>
                <a:quadBezTo>
                  <a:pt x="72942" y="166344"/>
                  <a:pt x="76490" y="163121"/>
                </a:quadBezTo>
                <a:quadBezTo>
                  <a:pt x="76823" y="162836"/>
                  <a:pt x="77134" y="162525"/>
                </a:quadBezTo>
                <a:quadBezTo>
                  <a:pt x="77444" y="162215"/>
                  <a:pt x="77730" y="161881"/>
                </a:quadBezTo>
                <a:lnTo>
                  <a:pt x="134880" y="95206"/>
                </a:lnTo>
                <a:quadBezTo>
                  <a:pt x="138103" y="91658"/>
                  <a:pt x="137598" y="86891"/>
                </a:quadBezTo>
                <a:quadBezTo>
                  <a:pt x="137368" y="82103"/>
                  <a:pt x="133640" y="79090"/>
                </a:quadBezTo>
                <a:quadBezTo>
                  <a:pt x="130092" y="75867"/>
                  <a:pt x="125325" y="76372"/>
                </a:quadBezTo>
                <a:quadBezTo>
                  <a:pt x="120537" y="76602"/>
                  <a:pt x="117523" y="80329"/>
                </a:quadBezTo>
                <a:lnTo>
                  <a:pt x="80481" y="123545"/>
                </a:lnTo>
                <a:close/>
              </a:path>
            </a:pathLst>
          </a:cu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1696700" y="5391150"/>
            <a:ext cx="403703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论文怎么做 —— 编辑植入拒绝联想</a:t>
            </a:r>
          </a:p>
        </p:txBody>
      </p:sp>
      <p:sp>
        <p:nvSpPr>
          <p:cNvPr id="20" name="Path"/>
          <p:cNvSpPr/>
          <p:nvPr/>
        </p:nvSpPr>
        <p:spPr>
          <a:xfrm>
            <a:off x="11741948" y="6055857"/>
            <a:ext cx="138103" cy="166344"/>
          </a:xfrm>
          <a:custGeom>
            <a:avLst/>
            <a:gdLst/>
            <a:ahLst/>
            <a:cxnLst/>
            <a:rect l="0" t="0" r="r" b="b"/>
            <a:pathLst>
              <a:path w="138103" h="166344">
                <a:moveTo>
                  <a:pt x="80481" y="123545"/>
                </a:moveTo>
                <a:lnTo>
                  <a:pt x="80481" y="11568"/>
                </a:lnTo>
                <a:quadBezTo>
                  <a:pt x="80619" y="6776"/>
                  <a:pt x="77134" y="3486"/>
                </a:quadBezTo>
                <a:quadBezTo>
                  <a:pt x="73843" y="0"/>
                  <a:pt x="69051" y="138"/>
                </a:quadBezTo>
                <a:quadBezTo>
                  <a:pt x="64260" y="0"/>
                  <a:pt x="60969" y="3486"/>
                </a:quadBezTo>
                <a:quadBezTo>
                  <a:pt x="57483" y="6776"/>
                  <a:pt x="57621" y="11568"/>
                </a:quadBezTo>
                <a:lnTo>
                  <a:pt x="57621" y="123545"/>
                </a:lnTo>
                <a:lnTo>
                  <a:pt x="20580" y="80329"/>
                </a:lnTo>
                <a:quadBezTo>
                  <a:pt x="17566" y="76602"/>
                  <a:pt x="12778" y="76372"/>
                </a:quadBezTo>
                <a:quadBezTo>
                  <a:pt x="8011" y="75867"/>
                  <a:pt x="4463" y="79090"/>
                </a:quadBezTo>
                <a:quadBezTo>
                  <a:pt x="735" y="82103"/>
                  <a:pt x="505" y="86891"/>
                </a:quadBezTo>
                <a:quadBezTo>
                  <a:pt x="0" y="91658"/>
                  <a:pt x="3223" y="95206"/>
                </a:quadBezTo>
                <a:lnTo>
                  <a:pt x="60373" y="161881"/>
                </a:lnTo>
                <a:quadBezTo>
                  <a:pt x="63387" y="165609"/>
                  <a:pt x="68175" y="165839"/>
                </a:quadBezTo>
                <a:quadBezTo>
                  <a:pt x="72942" y="166344"/>
                  <a:pt x="76490" y="163121"/>
                </a:quadBezTo>
                <a:quadBezTo>
                  <a:pt x="76823" y="162836"/>
                  <a:pt x="77134" y="162525"/>
                </a:quadBezTo>
                <a:quadBezTo>
                  <a:pt x="77444" y="162215"/>
                  <a:pt x="77730" y="161881"/>
                </a:quadBezTo>
                <a:lnTo>
                  <a:pt x="134880" y="95206"/>
                </a:lnTo>
                <a:quadBezTo>
                  <a:pt x="138103" y="91658"/>
                  <a:pt x="137598" y="86891"/>
                </a:quadBezTo>
                <a:quadBezTo>
                  <a:pt x="137368" y="82103"/>
                  <a:pt x="133640" y="79090"/>
                </a:quadBezTo>
                <a:quadBezTo>
                  <a:pt x="130092" y="75867"/>
                  <a:pt x="125325" y="76372"/>
                </a:quadBezTo>
                <a:quadBezTo>
                  <a:pt x="120537" y="76602"/>
                  <a:pt x="117523" y="80329"/>
                </a:quadBezTo>
                <a:lnTo>
                  <a:pt x="80481" y="123545"/>
                </a:lnTo>
                <a:close/>
              </a:path>
            </a:pathLst>
          </a:cu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1696700" y="6505575"/>
            <a:ext cx="403703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坑在哪、我想怎么补 —— 两个猜想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143000" y="9525000"/>
            <a:ext cx="31470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模型编辑 × LLM 安全 · 组会汇报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5811500" y="9486900"/>
            <a:ext cx="71940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239500" y="1809750"/>
            <a:ext cx="5245226" cy="711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9000">
                <a:solidFill>
                  <a:srgbClr val="1F2A37">
                    <a:alpha val="5000"/>
                  </a:srgbClr>
                </a:solidFill>
                <a:latin typeface="Source Han Serif CN Bold"/>
                <a:ea typeface="Source Han Serif CN Bold"/>
                <a:cs typeface="Source Han Serif CN Bold"/>
              </a:rPr>
              <a:t>01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4000" y="3810000"/>
            <a:ext cx="1568196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01 / 03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4000" y="4305300"/>
            <a:ext cx="70104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69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模型编辑技术介绍</a:t>
            </a:r>
          </a:p>
        </p:txBody>
      </p:sp>
      <p:sp>
        <p:nvSpPr>
          <p:cNvPr id="6" name="Rectangle"/>
          <p:cNvSpPr/>
          <p:nvPr/>
        </p:nvSpPr>
        <p:spPr>
          <a:xfrm>
            <a:off x="1524000" y="5791200"/>
            <a:ext cx="1143000" cy="5715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6248400"/>
            <a:ext cx="5573497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为什么需要它 · 三大流派与 ROME · 攻防两用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" y="9525000"/>
            <a:ext cx="27618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01 · 模型编辑技术介绍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811500" y="9486900"/>
            <a:ext cx="71917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04746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01 · 模型编辑技术介绍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11196504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35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改模型，不必重训 —— 微创手术式的精准修改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2819400"/>
            <a:ext cx="16002000" cy="1019175"/>
          </a:xfrm>
          <a:prstGeom prst="roundRect">
            <a:avLst>
              <a:gd name="adj" fmla="val 14953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47800" y="3124200"/>
            <a:ext cx="13183648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一句话定义：先定位知识存在哪，再用闭式解直接改那一小块权重 —— 改一条知识，几乎不伤其他能力。</a:t>
            </a:r>
          </a:p>
        </p:txBody>
      </p:sp>
      <p:sp>
        <p:nvSpPr>
          <p:cNvPr id="8" name="Rectangle"/>
          <p:cNvSpPr/>
          <p:nvPr/>
        </p:nvSpPr>
        <p:spPr>
          <a:xfrm>
            <a:off x="1143000" y="4400550"/>
            <a:ext cx="5029200" cy="188595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1466850" y="4724400"/>
            <a:ext cx="2743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知识会过时、会出错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66850" y="5295900"/>
            <a:ext cx="415892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世界杯冠军换队、CEO 换人；训练数据本身也有错误</a:t>
            </a:r>
          </a:p>
        </p:txBody>
      </p:sp>
      <p:sp>
        <p:nvSpPr>
          <p:cNvPr id="11" name="Rectangle"/>
          <p:cNvSpPr/>
          <p:nvPr/>
        </p:nvSpPr>
        <p:spPr>
          <a:xfrm>
            <a:off x="1147763" y="4405313"/>
            <a:ext cx="5019675" cy="1876425"/>
          </a:xfrm>
          <a:prstGeom prst="roundRect">
            <a:avLst>
              <a:gd name="adj" fmla="val 7868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6629400" y="4400550"/>
            <a:ext cx="5029200" cy="188595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6953250" y="4724400"/>
            <a:ext cx="24384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全量重训：贵且慢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953250" y="5295900"/>
            <a:ext cx="4366946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Llama 级模型重训一次数百万美元级、耗时数周</a:t>
            </a:r>
          </a:p>
        </p:txBody>
      </p:sp>
      <p:sp>
        <p:nvSpPr>
          <p:cNvPr id="15" name="Rectangle"/>
          <p:cNvSpPr/>
          <p:nvPr/>
        </p:nvSpPr>
        <p:spPr>
          <a:xfrm>
            <a:off x="6634163" y="4405313"/>
            <a:ext cx="5019675" cy="1876425"/>
          </a:xfrm>
          <a:prstGeom prst="roundRect">
            <a:avLst>
              <a:gd name="adj" fmla="val 7868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115800" y="4400550"/>
            <a:ext cx="5029200" cy="188595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439650" y="4724400"/>
            <a:ext cx="2743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一笔数据微调：会崩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439650" y="5295900"/>
            <a:ext cx="4270934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普通 fine-tune 一小撮数据，其他能力跟着崩坏</a:t>
            </a:r>
          </a:p>
        </p:txBody>
      </p:sp>
      <p:sp>
        <p:nvSpPr>
          <p:cNvPr id="19" name="Rectangle"/>
          <p:cNvSpPr/>
          <p:nvPr/>
        </p:nvSpPr>
        <p:spPr>
          <a:xfrm>
            <a:off x="12120563" y="4405313"/>
            <a:ext cx="5019675" cy="1876425"/>
          </a:xfrm>
          <a:prstGeom prst="roundRect">
            <a:avLst>
              <a:gd name="adj" fmla="val 7868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143000" y="6781800"/>
            <a:ext cx="5029200" cy="2295525"/>
          </a:xfrm>
          <a:prstGeom prst="roundRect">
            <a:avLst>
              <a:gd name="adj" fmla="val 6639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466850" y="7105650"/>
            <a:ext cx="2854452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Reliability · 改得准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466850" y="7677150"/>
            <a:ext cx="34290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想改的那条输入，必须输出新答案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466850" y="8143875"/>
            <a:ext cx="4324693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例：编辑后直接问「C罗效力哪家俱乐部？」必须答出「利雅得胜利」</a:t>
            </a:r>
          </a:p>
        </p:txBody>
      </p:sp>
      <p:sp>
        <p:nvSpPr>
          <p:cNvPr id="24" name="Rectangle"/>
          <p:cNvSpPr/>
          <p:nvPr/>
        </p:nvSpPr>
        <p:spPr>
          <a:xfrm>
            <a:off x="6629400" y="6781800"/>
            <a:ext cx="5029200" cy="2295525"/>
          </a:xfrm>
          <a:prstGeom prst="roundRect">
            <a:avLst>
              <a:gd name="adj" fmla="val 6639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6953250" y="7105650"/>
            <a:ext cx="3506419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Generalization · 改得广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953250" y="7677150"/>
            <a:ext cx="27432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换个问法、反向问也要成立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6953250" y="8143875"/>
            <a:ext cx="4324693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例：把「C罗效力利雅得胜利」写进模型后，换问法「C罗在哪踢球？」也必须答对新俱乐部</a:t>
            </a:r>
          </a:p>
        </p:txBody>
      </p:sp>
      <p:sp>
        <p:nvSpPr>
          <p:cNvPr id="28" name="Rectangle"/>
          <p:cNvSpPr/>
          <p:nvPr/>
        </p:nvSpPr>
        <p:spPr>
          <a:xfrm>
            <a:off x="12115800" y="6781800"/>
            <a:ext cx="5029200" cy="2628900"/>
          </a:xfrm>
          <a:prstGeom prst="roundRect">
            <a:avLst>
              <a:gd name="adj" fmla="val 5797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2439650" y="7105650"/>
            <a:ext cx="2523439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Locality · 改得窄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2439650" y="7677150"/>
            <a:ext cx="43434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无关输入不能被带坏：「巴黎在哪」还得答巴黎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2439650" y="8477250"/>
            <a:ext cx="4209021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例：改完 C罗 之后，「巴黎在哪」这种无关问题依然答巴黎，不被带跑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143000" y="9525000"/>
            <a:ext cx="27618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01 · 模型编辑技术介绍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5811500" y="9486900"/>
            <a:ext cx="71917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04746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01 · 模型编辑技术介绍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10725817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35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三大流派与 ROME：先定位，再闭式解改写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143000" y="2819400"/>
            <a:ext cx="9906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6B7684"/>
                </a:solidFill>
                <a:latin typeface="Noto Sans SC Bold"/>
                <a:ea typeface="Noto Sans SC Bold"/>
                <a:cs typeface="Noto Sans SC Bold"/>
              </a:rPr>
              <a:t>三大流派</a:t>
            </a:r>
          </a:p>
        </p:txBody>
      </p:sp>
      <p:sp>
        <p:nvSpPr>
          <p:cNvPr id="7" name="Rectangle"/>
          <p:cNvSpPr/>
          <p:nvPr/>
        </p:nvSpPr>
        <p:spPr>
          <a:xfrm>
            <a:off x="1143000" y="3333750"/>
            <a:ext cx="7810500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428750" y="3619500"/>
            <a:ext cx="2700909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外挂记忆 · 不动参数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28750" y="4124325"/>
            <a:ext cx="1984248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"/>
                <a:ea typeface="Noto Sans SC"/>
                <a:cs typeface="Noto Sans SC"/>
              </a:rPr>
              <a:t>代表：SERAC、IKE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28750" y="4552950"/>
            <a:ext cx="67913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包一层外部记忆，遇编辑过的输入走外存；简单安全，编辑多了上限低</a:t>
            </a:r>
          </a:p>
        </p:txBody>
      </p:sp>
      <p:sp>
        <p:nvSpPr>
          <p:cNvPr id="11" name="Rectangle"/>
          <p:cNvSpPr/>
          <p:nvPr/>
        </p:nvSpPr>
        <p:spPr>
          <a:xfrm>
            <a:off x="1147763" y="3338513"/>
            <a:ext cx="7800975" cy="1809750"/>
          </a:xfrm>
          <a:prstGeom prst="roundRect">
            <a:avLst>
              <a:gd name="adj" fmla="val 8157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143000" y="5334000"/>
            <a:ext cx="7810500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428750" y="5619750"/>
            <a:ext cx="3272409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元学习 · 机器决定怎么改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428750" y="6124575"/>
            <a:ext cx="185783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"/>
                <a:ea typeface="Noto Sans SC"/>
                <a:cs typeface="Noto Sans SC"/>
              </a:rPr>
              <a:t>代表：KE、MEND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428750" y="6553200"/>
            <a:ext cx="59150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训一个超网络，输入编辑指令、预测权重更新；需要额外训练</a:t>
            </a:r>
          </a:p>
        </p:txBody>
      </p:sp>
      <p:sp>
        <p:nvSpPr>
          <p:cNvPr id="16" name="Rectangle"/>
          <p:cNvSpPr/>
          <p:nvPr/>
        </p:nvSpPr>
        <p:spPr>
          <a:xfrm>
            <a:off x="1147763" y="5338763"/>
            <a:ext cx="7800975" cy="1809750"/>
          </a:xfrm>
          <a:prstGeom prst="roundRect">
            <a:avLst>
              <a:gd name="adj" fmla="val 8157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1143000" y="7334250"/>
            <a:ext cx="7810500" cy="1819275"/>
          </a:xfrm>
          <a:prstGeom prst="roundRect">
            <a:avLst>
              <a:gd name="adj" fmla="val 8376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428750" y="7620000"/>
            <a:ext cx="3908488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定位后编辑 · 人决定怎么改 ★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428750" y="8124825"/>
            <a:ext cx="378675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"/>
                <a:ea typeface="Noto Sans SC"/>
                <a:cs typeface="Noto Sans SC"/>
              </a:rPr>
              <a:t>代表：ROME → MEMIT → AlphaEdit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428750" y="8553450"/>
            <a:ext cx="6859457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先定位知识在哪层，再闭式解改权重；最主流 —— DELMAN 属于这一派</a:t>
            </a:r>
          </a:p>
        </p:txBody>
      </p:sp>
      <p:sp>
        <p:nvSpPr>
          <p:cNvPr id="21" name="Rectangle"/>
          <p:cNvSpPr/>
          <p:nvPr/>
        </p:nvSpPr>
        <p:spPr>
          <a:xfrm>
            <a:off x="1152525" y="7343775"/>
            <a:ext cx="7791450" cy="1800225"/>
          </a:xfrm>
          <a:prstGeom prst="roundRect">
            <a:avLst>
              <a:gd name="adj" fmla="val 7936"/>
            </a:avLst>
          </a:prstGeom>
          <a:noFill/>
          <a:ln w="19050">
            <a:solidFill>
              <a:srgbClr val="2E5FA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9715500" y="2819400"/>
            <a:ext cx="7429500" cy="5000625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0096500" y="3200400"/>
            <a:ext cx="5370099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ROME：改 FFN = 改一条 key→value 记忆</a:t>
            </a:r>
          </a:p>
        </p:txBody>
      </p:sp>
      <p:sp>
        <p:nvSpPr>
          <p:cNvPr id="24" name="Rectangle"/>
          <p:cNvSpPr/>
          <p:nvPr/>
        </p:nvSpPr>
        <p:spPr>
          <a:xfrm>
            <a:off x="10096500" y="38195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0296525" y="3895725"/>
            <a:ext cx="12428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1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0820400" y="3819525"/>
            <a:ext cx="3591192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定位：causal tracing 因果追踪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820400" y="4248150"/>
            <a:ext cx="594219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加噪声干扰中间表示，看破坏哪里会让模型答错 —— 事实知识主要存在中层 FFN</a:t>
            </a:r>
          </a:p>
        </p:txBody>
      </p:sp>
      <p:sp>
        <p:nvSpPr>
          <p:cNvPr id="28" name="Rectangle"/>
          <p:cNvSpPr/>
          <p:nvPr/>
        </p:nvSpPr>
        <p:spPr>
          <a:xfrm>
            <a:off x="10096500" y="50863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0287000" y="5162550"/>
            <a:ext cx="15842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2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0820400" y="5086350"/>
            <a:ext cx="3193599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修改：闭式解写入 W_down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0820400" y="5514975"/>
            <a:ext cx="5679957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把 (key → value) 联想焊进权重；FFN 输出直接进 residual stream，改这里 = 改「往脑子里塞什么念头」</a:t>
            </a:r>
          </a:p>
        </p:txBody>
      </p:sp>
      <p:sp>
        <p:nvSpPr>
          <p:cNvPr id="32" name="Rectangle"/>
          <p:cNvSpPr/>
          <p:nvPr/>
        </p:nvSpPr>
        <p:spPr>
          <a:xfrm>
            <a:off x="10096500" y="6353175"/>
            <a:ext cx="6667500" cy="1085850"/>
          </a:xfrm>
          <a:prstGeom prst="roundRect">
            <a:avLst>
              <a:gd name="adj" fmla="val 10526"/>
            </a:avLst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10306050" y="6562725"/>
            <a:ext cx="5968517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约束 W̃k* = v*（新知识必须成立） ｜ 目标 min ‖W̃K − V‖（其他知识尽量不动）→ rank-one 闭式解 Δ</a:t>
            </a:r>
          </a:p>
        </p:txBody>
      </p:sp>
      <p:sp>
        <p:nvSpPr>
          <p:cNvPr id="34" name="Rectangle"/>
          <p:cNvSpPr/>
          <p:nvPr/>
        </p:nvSpPr>
        <p:spPr>
          <a:xfrm>
            <a:off x="9720263" y="2824163"/>
            <a:ext cx="7419975" cy="4991100"/>
          </a:xfrm>
          <a:prstGeom prst="roundRect">
            <a:avLst>
              <a:gd name="adj" fmla="val 3339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9715500" y="8210550"/>
            <a:ext cx="7429500" cy="11430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9944100" y="8439150"/>
            <a:ext cx="6784181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75">
                <a:solidFill>
                  <a:srgbClr val="2E5FA3"/>
                </a:solidFill>
                <a:latin typeface="Noto Sans SC"/>
                <a:ea typeface="Noto Sans SC"/>
                <a:cs typeface="Noto Sans SC"/>
              </a:rPr>
              <a:t>DELMAN 的骨架直接继承 ROME / MEMIT —— 记住这两步，下一部分全是它的变体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143000" y="9525000"/>
            <a:ext cx="27618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01 · 模型编辑技术介绍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15811500" y="9486900"/>
            <a:ext cx="71940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04746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01 · 模型编辑技术介绍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857250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5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同一把手术刀：编辑技术攻防两用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3143250"/>
            <a:ext cx="4762500" cy="2362200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85900" y="3486150"/>
            <a:ext cx="147492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B7684"/>
                </a:solidFill>
                <a:latin typeface="Noto Sans SC Bold"/>
                <a:ea typeface="Noto Sans SC Bold"/>
                <a:cs typeface="Noto Sans SC Bold"/>
              </a:rPr>
              <a:t>起点 · 修事实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85900" y="3952875"/>
            <a:ext cx="3249263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ROME（NeurIPS 2022）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85900" y="4495800"/>
            <a:ext cx="3988613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正着用：定位事实知识，把「拜登 → 特朗普」改写进权重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148013"/>
            <a:ext cx="4752975" cy="2352675"/>
          </a:xfrm>
          <a:prstGeom prst="roundRect">
            <a:avLst>
              <a:gd name="adj" fmla="val 7085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5931375" y="4245450"/>
            <a:ext cx="805499" cy="157799"/>
          </a:xfrm>
          <a:custGeom>
            <a:avLst/>
            <a:gdLst/>
            <a:ahLst/>
            <a:cxnLst/>
            <a:rect l="0" t="0" r="r" b="b"/>
            <a:pathLst>
              <a:path w="805499" h="157799">
                <a:moveTo>
                  <a:pt x="48485" y="67470"/>
                </a:moveTo>
                <a:lnTo>
                  <a:pt x="114029" y="21588"/>
                </a:lnTo>
                <a:quadBezTo>
                  <a:pt x="118034" y="18954"/>
                  <a:pt x="118731" y="14211"/>
                </a:quadBezTo>
                <a:quadBezTo>
                  <a:pt x="119699" y="9516"/>
                  <a:pt x="116838" y="5670"/>
                </a:quadBezTo>
                <a:quadBezTo>
                  <a:pt x="114204" y="1665"/>
                  <a:pt x="109461" y="969"/>
                </a:quadBezTo>
                <a:quadBezTo>
                  <a:pt x="104766" y="0"/>
                  <a:pt x="100920" y="2861"/>
                </a:quadBezTo>
                <a:lnTo>
                  <a:pt x="5670" y="69536"/>
                </a:lnTo>
                <a:quadBezTo>
                  <a:pt x="1665" y="72171"/>
                  <a:pt x="969" y="76913"/>
                </a:quadBezTo>
                <a:quadBezTo>
                  <a:pt x="0" y="81608"/>
                  <a:pt x="2861" y="85454"/>
                </a:quadBezTo>
                <a:quadBezTo>
                  <a:pt x="3434" y="86274"/>
                  <a:pt x="4142" y="86982"/>
                </a:quadBezTo>
                <a:quadBezTo>
                  <a:pt x="4850" y="87690"/>
                  <a:pt x="5670" y="88263"/>
                </a:quadBezTo>
                <a:lnTo>
                  <a:pt x="100920" y="154938"/>
                </a:lnTo>
                <a:quadBezTo>
                  <a:pt x="104766" y="157799"/>
                  <a:pt x="109461" y="156831"/>
                </a:quadBezTo>
                <a:quadBezTo>
                  <a:pt x="114204" y="156134"/>
                  <a:pt x="116838" y="152129"/>
                </a:quadBezTo>
                <a:quadBezTo>
                  <a:pt x="119699" y="148283"/>
                  <a:pt x="118731" y="143588"/>
                </a:quadBezTo>
                <a:quadBezTo>
                  <a:pt x="118034" y="138846"/>
                  <a:pt x="114029" y="136211"/>
                </a:quadBezTo>
                <a:lnTo>
                  <a:pt x="48485" y="90330"/>
                </a:lnTo>
                <a:lnTo>
                  <a:pt x="757014" y="90330"/>
                </a:lnTo>
                <a:lnTo>
                  <a:pt x="691470" y="136211"/>
                </a:lnTo>
                <a:quadBezTo>
                  <a:pt x="687465" y="138846"/>
                  <a:pt x="686768" y="143588"/>
                </a:quadBezTo>
                <a:quadBezTo>
                  <a:pt x="685800" y="148283"/>
                  <a:pt x="688661" y="152129"/>
                </a:quadBezTo>
                <a:quadBezTo>
                  <a:pt x="691296" y="156134"/>
                  <a:pt x="696038" y="156831"/>
                </a:quadBezTo>
                <a:quadBezTo>
                  <a:pt x="700733" y="157799"/>
                  <a:pt x="704579" y="154938"/>
                </a:quadBezTo>
                <a:lnTo>
                  <a:pt x="799829" y="88263"/>
                </a:lnTo>
                <a:quadBezTo>
                  <a:pt x="800649" y="87690"/>
                  <a:pt x="801357" y="86982"/>
                </a:quadBezTo>
                <a:quadBezTo>
                  <a:pt x="802065" y="86274"/>
                  <a:pt x="802638" y="85454"/>
                </a:quadBezTo>
                <a:quadBezTo>
                  <a:pt x="805499" y="81608"/>
                  <a:pt x="804531" y="76913"/>
                </a:quadBezTo>
                <a:quadBezTo>
                  <a:pt x="803834" y="72171"/>
                  <a:pt x="799829" y="69536"/>
                </a:quadBezTo>
                <a:lnTo>
                  <a:pt x="704579" y="2861"/>
                </a:lnTo>
                <a:quadBezTo>
                  <a:pt x="700733" y="0"/>
                  <a:pt x="696038" y="969"/>
                </a:quadBezTo>
                <a:quadBezTo>
                  <a:pt x="691296" y="1665"/>
                  <a:pt x="688661" y="5670"/>
                </a:quadBezTo>
                <a:quadBezTo>
                  <a:pt x="685800" y="9516"/>
                  <a:pt x="686768" y="14211"/>
                </a:quadBezTo>
                <a:quadBezTo>
                  <a:pt x="687465" y="18954"/>
                  <a:pt x="691470" y="21588"/>
                </a:quadBezTo>
                <a:lnTo>
                  <a:pt x="757014" y="67470"/>
                </a:lnTo>
                <a:lnTo>
                  <a:pt x="48485" y="67470"/>
                </a:lnTo>
                <a:close/>
              </a:path>
            </a:pathLst>
          </a:cu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6762750" y="3143250"/>
            <a:ext cx="4762500" cy="2362200"/>
          </a:xfrm>
          <a:prstGeom prst="roundRect">
            <a:avLst>
              <a:gd name="adj" fmla="val 7258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7105650" y="3486150"/>
            <a:ext cx="238932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防御 · 刻「拒绝钢印」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7105650" y="3952875"/>
            <a:ext cx="2918651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DELMAN / EVA / DINM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7105650" y="4495800"/>
            <a:ext cx="4037076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把「有害词 → 拒绝方向」写进 MLP，部署后被越狱了随时打补丁</a:t>
            </a:r>
          </a:p>
        </p:txBody>
      </p:sp>
      <p:sp>
        <p:nvSpPr>
          <p:cNvPr id="16" name="Rectangle"/>
          <p:cNvSpPr/>
          <p:nvPr/>
        </p:nvSpPr>
        <p:spPr>
          <a:xfrm>
            <a:off x="6772275" y="3152775"/>
            <a:ext cx="4743450" cy="2343150"/>
          </a:xfrm>
          <a:prstGeom prst="roundRect">
            <a:avLst>
              <a:gd name="adj" fmla="val 6910"/>
            </a:avLst>
          </a:prstGeom>
          <a:noFill/>
          <a:ln w="19050">
            <a:solidFill>
              <a:srgbClr val="2E5FA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11551125" y="4245450"/>
            <a:ext cx="805499" cy="157799"/>
          </a:xfrm>
          <a:custGeom>
            <a:avLst/>
            <a:gdLst/>
            <a:ahLst/>
            <a:cxnLst/>
            <a:rect l="0" t="0" r="r" b="b"/>
            <a:pathLst>
              <a:path w="805499" h="157799">
                <a:moveTo>
                  <a:pt x="48485" y="67470"/>
                </a:moveTo>
                <a:lnTo>
                  <a:pt x="114029" y="21588"/>
                </a:lnTo>
                <a:quadBezTo>
                  <a:pt x="118034" y="18954"/>
                  <a:pt x="118731" y="14211"/>
                </a:quadBezTo>
                <a:quadBezTo>
                  <a:pt x="119699" y="9516"/>
                  <a:pt x="116838" y="5670"/>
                </a:quadBezTo>
                <a:quadBezTo>
                  <a:pt x="114204" y="1665"/>
                  <a:pt x="109461" y="969"/>
                </a:quadBezTo>
                <a:quadBezTo>
                  <a:pt x="104766" y="0"/>
                  <a:pt x="100920" y="2861"/>
                </a:quadBezTo>
                <a:lnTo>
                  <a:pt x="5670" y="69536"/>
                </a:lnTo>
                <a:quadBezTo>
                  <a:pt x="1665" y="72171"/>
                  <a:pt x="969" y="76913"/>
                </a:quadBezTo>
                <a:quadBezTo>
                  <a:pt x="0" y="81608"/>
                  <a:pt x="2861" y="85454"/>
                </a:quadBezTo>
                <a:quadBezTo>
                  <a:pt x="3434" y="86274"/>
                  <a:pt x="4142" y="86982"/>
                </a:quadBezTo>
                <a:quadBezTo>
                  <a:pt x="4850" y="87690"/>
                  <a:pt x="5670" y="88263"/>
                </a:quadBezTo>
                <a:lnTo>
                  <a:pt x="100920" y="154938"/>
                </a:lnTo>
                <a:quadBezTo>
                  <a:pt x="104766" y="157799"/>
                  <a:pt x="109461" y="156831"/>
                </a:quadBezTo>
                <a:quadBezTo>
                  <a:pt x="114204" y="156134"/>
                  <a:pt x="116838" y="152129"/>
                </a:quadBezTo>
                <a:quadBezTo>
                  <a:pt x="119699" y="148283"/>
                  <a:pt x="118731" y="143588"/>
                </a:quadBezTo>
                <a:quadBezTo>
                  <a:pt x="118034" y="138846"/>
                  <a:pt x="114029" y="136211"/>
                </a:quadBezTo>
                <a:lnTo>
                  <a:pt x="48485" y="90330"/>
                </a:lnTo>
                <a:lnTo>
                  <a:pt x="757014" y="90330"/>
                </a:lnTo>
                <a:lnTo>
                  <a:pt x="691470" y="136211"/>
                </a:lnTo>
                <a:quadBezTo>
                  <a:pt x="687465" y="138846"/>
                  <a:pt x="686768" y="143588"/>
                </a:quadBezTo>
                <a:quadBezTo>
                  <a:pt x="685800" y="148283"/>
                  <a:pt x="688661" y="152129"/>
                </a:quadBezTo>
                <a:quadBezTo>
                  <a:pt x="691296" y="156134"/>
                  <a:pt x="696038" y="156831"/>
                </a:quadBezTo>
                <a:quadBezTo>
                  <a:pt x="700733" y="157799"/>
                  <a:pt x="704579" y="154938"/>
                </a:quadBezTo>
                <a:lnTo>
                  <a:pt x="799829" y="88263"/>
                </a:lnTo>
                <a:quadBezTo>
                  <a:pt x="800649" y="87690"/>
                  <a:pt x="801357" y="86982"/>
                </a:quadBezTo>
                <a:quadBezTo>
                  <a:pt x="802065" y="86274"/>
                  <a:pt x="802638" y="85454"/>
                </a:quadBezTo>
                <a:quadBezTo>
                  <a:pt x="805499" y="81608"/>
                  <a:pt x="804531" y="76913"/>
                </a:quadBezTo>
                <a:quadBezTo>
                  <a:pt x="803834" y="72171"/>
                  <a:pt x="799829" y="69536"/>
                </a:quadBezTo>
                <a:lnTo>
                  <a:pt x="704579" y="2861"/>
                </a:lnTo>
                <a:quadBezTo>
                  <a:pt x="700733" y="0"/>
                  <a:pt x="696038" y="969"/>
                </a:quadBezTo>
                <a:quadBezTo>
                  <a:pt x="691296" y="1665"/>
                  <a:pt x="688661" y="5670"/>
                </a:quadBezTo>
                <a:quadBezTo>
                  <a:pt x="685800" y="9516"/>
                  <a:pt x="686768" y="14211"/>
                </a:quadBezTo>
                <a:quadBezTo>
                  <a:pt x="687465" y="18954"/>
                  <a:pt x="691470" y="21588"/>
                </a:quadBezTo>
                <a:lnTo>
                  <a:pt x="757014" y="67470"/>
                </a:lnTo>
                <a:lnTo>
                  <a:pt x="48485" y="67470"/>
                </a:lnTo>
                <a:close/>
              </a:path>
            </a:pathLst>
          </a:custGeom>
          <a:solidFill>
            <a:srgbClr val="A94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2382500" y="3143250"/>
            <a:ext cx="4762500" cy="2362200"/>
          </a:xfrm>
          <a:prstGeom prst="roundRect">
            <a:avLst>
              <a:gd name="adj" fmla="val 7258"/>
            </a:avLst>
          </a:prstGeom>
          <a:solidFill>
            <a:srgbClr val="F5E9E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2725400" y="3486150"/>
            <a:ext cx="193212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A94438"/>
                </a:solidFill>
                <a:latin typeface="Noto Sans SC Bold"/>
                <a:ea typeface="Noto Sans SC Bold"/>
                <a:cs typeface="Noto Sans SC Bold"/>
              </a:rPr>
              <a:t>攻击 · 刻恶意后门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2725400" y="3952875"/>
            <a:ext cx="317582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JailbreakEdit / BadEdit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2725400" y="4495800"/>
            <a:ext cx="3937406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>
                <a:solidFill>
                  <a:srgbClr val="6B504C"/>
                </a:solidFill>
                <a:latin typeface="Noto Sans SC"/>
                <a:ea typeface="Noto Sans SC"/>
                <a:cs typeface="Noto Sans SC"/>
              </a:rPr>
              <a:t>反着用：同一套闭式解，植入越狱后门 —— 几分钟，供应链投毒</a:t>
            </a:r>
          </a:p>
        </p:txBody>
      </p:sp>
      <p:sp>
        <p:nvSpPr>
          <p:cNvPr id="22" name="Rectangle"/>
          <p:cNvSpPr/>
          <p:nvPr/>
        </p:nvSpPr>
        <p:spPr>
          <a:xfrm>
            <a:off x="12392025" y="3152775"/>
            <a:ext cx="4743450" cy="2343150"/>
          </a:xfrm>
          <a:prstGeom prst="roundRect">
            <a:avLst>
              <a:gd name="adj" fmla="val 6910"/>
            </a:avLst>
          </a:prstGeom>
          <a:noFill/>
          <a:ln w="19050">
            <a:solidFill>
              <a:srgbClr val="A9443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143000" y="6667500"/>
            <a:ext cx="16002000" cy="1828800"/>
          </a:xfrm>
          <a:prstGeom prst="roundRect">
            <a:avLst>
              <a:gd name="adj" fmla="val 9375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562100" y="7124700"/>
            <a:ext cx="76200" cy="914400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905000" y="7086600"/>
            <a:ext cx="14597938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7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「谁的语义强谁赢」—— 根源在于 FFN 的输出可以被直接覆盖。攻击与防御，是同一把手术刀的两面。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143000" y="9525000"/>
            <a:ext cx="27618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01 · 模型编辑技术介绍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5811500" y="9486900"/>
            <a:ext cx="71940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239500" y="1809750"/>
            <a:ext cx="5879210" cy="711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9000">
                <a:solidFill>
                  <a:srgbClr val="1F2A37">
                    <a:alpha val="5000"/>
                  </a:srgbClr>
                </a:solidFill>
                <a:latin typeface="Source Han Serif CN Bold"/>
                <a:ea typeface="Source Han Serif CN Bold"/>
                <a:cs typeface="Source Han Serif CN Bold"/>
              </a:rPr>
              <a:t>02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4000" y="3810000"/>
            <a:ext cx="1568196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02 / 03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4000" y="4305300"/>
            <a:ext cx="7780668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69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DELMAN 论文精读</a:t>
            </a:r>
          </a:p>
        </p:txBody>
      </p:sp>
      <p:sp>
        <p:nvSpPr>
          <p:cNvPr id="6" name="Rectangle"/>
          <p:cNvSpPr/>
          <p:nvPr/>
        </p:nvSpPr>
        <p:spPr>
          <a:xfrm>
            <a:off x="1524000" y="5791200"/>
            <a:ext cx="1143000" cy="5715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6248400"/>
            <a:ext cx="542574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研究动机 · 四步方法 · 实验结论 · 设计不足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" y="9525000"/>
            <a:ext cx="28010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02 · DELMAN 论文精读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811500" y="9486900"/>
            <a:ext cx="71803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121761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02 · DELMAN 论文精读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857250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5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已部署的模型被越狱了，怎么办？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8191500" cy="2076450"/>
          </a:xfrm>
          <a:prstGeom prst="roundRect">
            <a:avLst>
              <a:gd name="adj" fmla="val 825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3429000"/>
            <a:ext cx="4398264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场景：部署后的 LLM 被越狱攻击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" y="4019550"/>
            <a:ext cx="74295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95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重训安全微调：代价大、伤能力、跟不上新攻击。需要一种「部署后随时能打」的防御 —— 最小修改、精准定位、可动态更新。</a:t>
            </a:r>
          </a:p>
        </p:txBody>
      </p:sp>
      <p:sp>
        <p:nvSpPr>
          <p:cNvPr id="9" name="Rectangle"/>
          <p:cNvSpPr/>
          <p:nvPr/>
        </p:nvSpPr>
        <p:spPr>
          <a:xfrm>
            <a:off x="1147763" y="3052763"/>
            <a:ext cx="8181975" cy="2066925"/>
          </a:xfrm>
          <a:prstGeom prst="roundRect">
            <a:avLst>
              <a:gd name="adj" fmla="val 8064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143000" y="5905500"/>
            <a:ext cx="2476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6B7684"/>
                </a:solidFill>
                <a:latin typeface="Noto Sans SC Bold"/>
                <a:ea typeface="Noto Sans SC Bold"/>
                <a:cs typeface="Noto Sans SC Bold"/>
              </a:rPr>
              <a:t>防御需求的三个关键词</a:t>
            </a:r>
          </a:p>
        </p:txBody>
      </p:sp>
      <p:sp>
        <p:nvSpPr>
          <p:cNvPr id="11" name="Rectangle"/>
          <p:cNvSpPr/>
          <p:nvPr/>
        </p:nvSpPr>
        <p:spPr>
          <a:xfrm>
            <a:off x="1143000" y="6438900"/>
            <a:ext cx="2603500" cy="790575"/>
          </a:xfrm>
          <a:prstGeom prst="roundRect">
            <a:avLst>
              <a:gd name="adj" fmla="val 14457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1933575" y="6648450"/>
            <a:ext cx="10287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最小修改</a:t>
            </a:r>
          </a:p>
        </p:txBody>
      </p:sp>
      <p:sp>
        <p:nvSpPr>
          <p:cNvPr id="13" name="Rectangle"/>
          <p:cNvSpPr/>
          <p:nvPr/>
        </p:nvSpPr>
        <p:spPr>
          <a:xfrm>
            <a:off x="3933825" y="6438900"/>
            <a:ext cx="2603500" cy="790575"/>
          </a:xfrm>
          <a:prstGeom prst="roundRect">
            <a:avLst>
              <a:gd name="adj" fmla="val 14457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4724400" y="6648450"/>
            <a:ext cx="10287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精准定位</a:t>
            </a:r>
          </a:p>
        </p:txBody>
      </p:sp>
      <p:sp>
        <p:nvSpPr>
          <p:cNvPr id="15" name="Rectangle"/>
          <p:cNvSpPr/>
          <p:nvPr/>
        </p:nvSpPr>
        <p:spPr>
          <a:xfrm>
            <a:off x="6734175" y="6438900"/>
            <a:ext cx="2603500" cy="790575"/>
          </a:xfrm>
          <a:prstGeom prst="roundRect">
            <a:avLst>
              <a:gd name="adj" fmla="val 14457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7391400" y="6648450"/>
            <a:ext cx="128587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可动态更新</a:t>
            </a:r>
          </a:p>
        </p:txBody>
      </p:sp>
      <p:sp>
        <p:nvSpPr>
          <p:cNvPr id="17" name="Rectangle"/>
          <p:cNvSpPr/>
          <p:nvPr/>
        </p:nvSpPr>
        <p:spPr>
          <a:xfrm>
            <a:off x="9906000" y="3048000"/>
            <a:ext cx="7239000" cy="1466850"/>
          </a:xfrm>
          <a:prstGeom prst="roundRect">
            <a:avLst>
              <a:gd name="adj" fmla="val 11688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0248900" y="3390900"/>
            <a:ext cx="657415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一句话概括：200 条有害 query + 一句统一拒绝句 + 0.4 小时训练，把 ASR 压到 6.7%，MT-Bench 几乎不掉。</a:t>
            </a:r>
          </a:p>
        </p:txBody>
      </p:sp>
      <p:sp>
        <p:nvSpPr>
          <p:cNvPr id="19" name="Rectangle"/>
          <p:cNvSpPr/>
          <p:nvPr/>
        </p:nvSpPr>
        <p:spPr>
          <a:xfrm>
            <a:off x="9906000" y="5181600"/>
            <a:ext cx="3543300" cy="1685925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0172700" y="5448300"/>
            <a:ext cx="117348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0.4h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0172700" y="6286500"/>
            <a:ext cx="2199294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训练时间（LED 6.2h）</a:t>
            </a:r>
          </a:p>
        </p:txBody>
      </p:sp>
      <p:sp>
        <p:nvSpPr>
          <p:cNvPr id="22" name="Rectangle"/>
          <p:cNvSpPr/>
          <p:nvPr/>
        </p:nvSpPr>
        <p:spPr>
          <a:xfrm>
            <a:off x="9910763" y="5186363"/>
            <a:ext cx="3533775" cy="1676400"/>
          </a:xfrm>
          <a:prstGeom prst="roundRect">
            <a:avLst>
              <a:gd name="adj" fmla="val 8806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3601700" y="5181600"/>
            <a:ext cx="3543300" cy="1685925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3868400" y="5448300"/>
            <a:ext cx="161620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2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200 条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3868400" y="6286500"/>
            <a:ext cx="273471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有害 query（HarmBench）</a:t>
            </a:r>
          </a:p>
        </p:txBody>
      </p:sp>
      <p:sp>
        <p:nvSpPr>
          <p:cNvPr id="26" name="Rectangle"/>
          <p:cNvSpPr/>
          <p:nvPr/>
        </p:nvSpPr>
        <p:spPr>
          <a:xfrm>
            <a:off x="13606463" y="5186363"/>
            <a:ext cx="3533775" cy="1676400"/>
          </a:xfrm>
          <a:prstGeom prst="roundRect">
            <a:avLst>
              <a:gd name="adj" fmla="val 8806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9906000" y="7019925"/>
            <a:ext cx="3543300" cy="1685925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0172700" y="7286625"/>
            <a:ext cx="132443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6.7%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0172700" y="8124825"/>
            <a:ext cx="2523744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平均 ASR（LoRA 23.2%）</a:t>
            </a:r>
          </a:p>
        </p:txBody>
      </p:sp>
      <p:sp>
        <p:nvSpPr>
          <p:cNvPr id="30" name="Rectangle"/>
          <p:cNvSpPr/>
          <p:nvPr/>
        </p:nvSpPr>
        <p:spPr>
          <a:xfrm>
            <a:off x="9910763" y="7024688"/>
            <a:ext cx="3533775" cy="1676400"/>
          </a:xfrm>
          <a:prstGeom prst="roundRect">
            <a:avLst>
              <a:gd name="adj" fmla="val 8806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3601700" y="7019925"/>
            <a:ext cx="354330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3868400" y="7286625"/>
            <a:ext cx="78196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1×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3868400" y="8124825"/>
            <a:ext cx="2977449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推理开销（SafeDecoding 1.07×）</a:t>
            </a:r>
          </a:p>
        </p:txBody>
      </p:sp>
      <p:sp>
        <p:nvSpPr>
          <p:cNvPr id="34" name="Rectangle"/>
          <p:cNvSpPr/>
          <p:nvPr/>
        </p:nvSpPr>
        <p:spPr>
          <a:xfrm>
            <a:off x="13606463" y="7024688"/>
            <a:ext cx="3533775" cy="1990725"/>
          </a:xfrm>
          <a:prstGeom prst="roundRect">
            <a:avLst>
              <a:gd name="adj" fmla="val 7416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43000" y="8905875"/>
            <a:ext cx="6307826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Wang et al. · arXiv 2025 · 上海科技大学 / 浙江大学 / 清华 CoAI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143000" y="9525000"/>
            <a:ext cx="28010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02 · DELMAN 论文精读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5811500" y="9486900"/>
            <a:ext cx="71940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9108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02 · DELMAN 论文精读 · 方法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109418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35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四步流水线：在 MLP 里刻一条「拒绝联想」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3143250"/>
            <a:ext cx="3571875" cy="2352675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28750" y="3429000"/>
            <a:ext cx="278141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Step 1 · 抽有害 token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28750" y="3952875"/>
            <a:ext cx="2893981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GPT-4 从 200 条 query 里圈出「真凶词」（bomb、poison）→ 地址选准，不误伤正常词</a:t>
            </a:r>
          </a:p>
        </p:txBody>
      </p:sp>
      <p:sp>
        <p:nvSpPr>
          <p:cNvPr id="9" name="Rectangle"/>
          <p:cNvSpPr/>
          <p:nvPr/>
        </p:nvSpPr>
        <p:spPr>
          <a:xfrm>
            <a:off x="1147763" y="3148013"/>
            <a:ext cx="3562350" cy="2343150"/>
          </a:xfrm>
          <a:prstGeom prst="roundRect">
            <a:avLst>
              <a:gd name="adj" fmla="val 7113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4722357" y="4236124"/>
            <a:ext cx="499844" cy="176453"/>
          </a:xfrm>
          <a:custGeom>
            <a:avLst/>
            <a:gdLst/>
            <a:ahLst/>
            <a:cxnLst/>
            <a:rect l="0" t="0" r="r" b="b"/>
            <a:pathLst>
              <a:path w="499844" h="176453">
                <a:moveTo>
                  <a:pt x="399708" y="3101"/>
                </a:moveTo>
                <a:lnTo>
                  <a:pt x="494958" y="79301"/>
                </a:lnTo>
                <a:quadBezTo>
                  <a:pt x="498786" y="82187"/>
                  <a:pt x="499178" y="86964"/>
                </a:quadBezTo>
                <a:quadBezTo>
                  <a:pt x="499844" y="91711"/>
                  <a:pt x="496743" y="95367"/>
                </a:quadBezTo>
                <a:quadBezTo>
                  <a:pt x="496348" y="95861"/>
                  <a:pt x="495900" y="96309"/>
                </a:quadBezTo>
                <a:quadBezTo>
                  <a:pt x="495452" y="96756"/>
                  <a:pt x="494958" y="97152"/>
                </a:quadBezTo>
                <a:lnTo>
                  <a:pt x="399708" y="173352"/>
                </a:lnTo>
                <a:quadBezTo>
                  <a:pt x="396053" y="176453"/>
                  <a:pt x="391306" y="175786"/>
                </a:quadBezTo>
                <a:quadBezTo>
                  <a:pt x="386528" y="175394"/>
                  <a:pt x="383643" y="171567"/>
                </a:quadBezTo>
                <a:quadBezTo>
                  <a:pt x="380542" y="167911"/>
                  <a:pt x="381208" y="163164"/>
                </a:quadBezTo>
                <a:quadBezTo>
                  <a:pt x="381600" y="158387"/>
                  <a:pt x="385428" y="155501"/>
                </a:quadBezTo>
                <a:lnTo>
                  <a:pt x="455233" y="99656"/>
                </a:lnTo>
                <a:lnTo>
                  <a:pt x="11568" y="99656"/>
                </a:lnTo>
                <a:quadBezTo>
                  <a:pt x="6776" y="99794"/>
                  <a:pt x="3486" y="96309"/>
                </a:quadBezTo>
                <a:quadBezTo>
                  <a:pt x="0" y="93018"/>
                  <a:pt x="138" y="88226"/>
                </a:quadBezTo>
                <a:quadBezTo>
                  <a:pt x="0" y="83435"/>
                  <a:pt x="3486" y="80144"/>
                </a:quadBezTo>
                <a:quadBezTo>
                  <a:pt x="6776" y="76658"/>
                  <a:pt x="11568" y="76796"/>
                </a:quadBezTo>
                <a:lnTo>
                  <a:pt x="455233" y="76796"/>
                </a:lnTo>
                <a:lnTo>
                  <a:pt x="385428" y="20952"/>
                </a:lnTo>
                <a:quadBezTo>
                  <a:pt x="381600" y="18066"/>
                  <a:pt x="381208" y="13289"/>
                </a:quadBezTo>
                <a:quadBezTo>
                  <a:pt x="380542" y="8541"/>
                  <a:pt x="383643" y="4886"/>
                </a:quadBezTo>
                <a:quadBezTo>
                  <a:pt x="386528" y="1058"/>
                  <a:pt x="391306" y="666"/>
                </a:quadBezTo>
                <a:quadBezTo>
                  <a:pt x="396053" y="0"/>
                  <a:pt x="399708" y="3101"/>
                </a:quadBezTo>
                <a:close/>
              </a:path>
            </a:pathLst>
          </a:cu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5286375" y="3305175"/>
            <a:ext cx="3571875" cy="2038350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5572125" y="3590925"/>
            <a:ext cx="230055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Step 2 · 造 key k*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5572125" y="4114800"/>
            <a:ext cx="2848632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每词生成 5 条中性句，取目标层激活平均 → 上下文无关的 token 指纹</a:t>
            </a:r>
          </a:p>
        </p:txBody>
      </p:sp>
      <p:sp>
        <p:nvSpPr>
          <p:cNvPr id="14" name="Rectangle"/>
          <p:cNvSpPr/>
          <p:nvPr/>
        </p:nvSpPr>
        <p:spPr>
          <a:xfrm>
            <a:off x="5291138" y="3309938"/>
            <a:ext cx="3562350" cy="2028825"/>
          </a:xfrm>
          <a:prstGeom prst="roundRect">
            <a:avLst>
              <a:gd name="adj" fmla="val 8215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8865732" y="4236124"/>
            <a:ext cx="499844" cy="176453"/>
          </a:xfrm>
          <a:custGeom>
            <a:avLst/>
            <a:gdLst/>
            <a:ahLst/>
            <a:cxnLst/>
            <a:rect l="0" t="0" r="r" b="b"/>
            <a:pathLst>
              <a:path w="499844" h="176453">
                <a:moveTo>
                  <a:pt x="399708" y="3101"/>
                </a:moveTo>
                <a:lnTo>
                  <a:pt x="494958" y="79301"/>
                </a:lnTo>
                <a:quadBezTo>
                  <a:pt x="498786" y="82187"/>
                  <a:pt x="499178" y="86964"/>
                </a:quadBezTo>
                <a:quadBezTo>
                  <a:pt x="499844" y="91711"/>
                  <a:pt x="496743" y="95367"/>
                </a:quadBezTo>
                <a:quadBezTo>
                  <a:pt x="496348" y="95861"/>
                  <a:pt x="495900" y="96309"/>
                </a:quadBezTo>
                <a:quadBezTo>
                  <a:pt x="495452" y="96756"/>
                  <a:pt x="494958" y="97152"/>
                </a:quadBezTo>
                <a:lnTo>
                  <a:pt x="399708" y="173352"/>
                </a:lnTo>
                <a:quadBezTo>
                  <a:pt x="396053" y="176453"/>
                  <a:pt x="391306" y="175786"/>
                </a:quadBezTo>
                <a:quadBezTo>
                  <a:pt x="386528" y="175394"/>
                  <a:pt x="383643" y="171567"/>
                </a:quadBezTo>
                <a:quadBezTo>
                  <a:pt x="380542" y="167911"/>
                  <a:pt x="381208" y="163164"/>
                </a:quadBezTo>
                <a:quadBezTo>
                  <a:pt x="381600" y="158387"/>
                  <a:pt x="385428" y="155501"/>
                </a:quadBezTo>
                <a:lnTo>
                  <a:pt x="455233" y="99656"/>
                </a:lnTo>
                <a:lnTo>
                  <a:pt x="11568" y="99656"/>
                </a:lnTo>
                <a:quadBezTo>
                  <a:pt x="6776" y="99794"/>
                  <a:pt x="3486" y="96309"/>
                </a:quadBezTo>
                <a:quadBezTo>
                  <a:pt x="0" y="93018"/>
                  <a:pt x="138" y="88226"/>
                </a:quadBezTo>
                <a:quadBezTo>
                  <a:pt x="0" y="83435"/>
                  <a:pt x="3486" y="80144"/>
                </a:quadBezTo>
                <a:quadBezTo>
                  <a:pt x="6776" y="76658"/>
                  <a:pt x="11568" y="76796"/>
                </a:quadBezTo>
                <a:lnTo>
                  <a:pt x="455233" y="76796"/>
                </a:lnTo>
                <a:lnTo>
                  <a:pt x="385428" y="20952"/>
                </a:lnTo>
                <a:quadBezTo>
                  <a:pt x="381600" y="18066"/>
                  <a:pt x="381208" y="13289"/>
                </a:quadBezTo>
                <a:quadBezTo>
                  <a:pt x="380542" y="8541"/>
                  <a:pt x="383643" y="4886"/>
                </a:quadBezTo>
                <a:quadBezTo>
                  <a:pt x="386528" y="1058"/>
                  <a:pt x="391306" y="666"/>
                </a:quadBezTo>
                <a:quadBezTo>
                  <a:pt x="396053" y="0"/>
                  <a:pt x="399708" y="3101"/>
                </a:quadBezTo>
                <a:close/>
              </a:path>
            </a:pathLst>
          </a:cu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9429750" y="3305175"/>
            <a:ext cx="3571875" cy="2038350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9715500" y="3590925"/>
            <a:ext cx="281315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Step 3 · 优化 value v*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715499" y="4114800"/>
            <a:ext cx="2945245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「想象替换」当模拟器：L_safe 逼出拒绝句 + KL 损失保良性分布不动</a:t>
            </a:r>
          </a:p>
        </p:txBody>
      </p:sp>
      <p:sp>
        <p:nvSpPr>
          <p:cNvPr id="19" name="Rectangle"/>
          <p:cNvSpPr/>
          <p:nvPr/>
        </p:nvSpPr>
        <p:spPr>
          <a:xfrm>
            <a:off x="9434513" y="3309938"/>
            <a:ext cx="3562350" cy="2028825"/>
          </a:xfrm>
          <a:prstGeom prst="roundRect">
            <a:avLst>
              <a:gd name="adj" fmla="val 8215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Path"/>
          <p:cNvSpPr/>
          <p:nvPr/>
        </p:nvSpPr>
        <p:spPr>
          <a:xfrm>
            <a:off x="13009107" y="4236124"/>
            <a:ext cx="499844" cy="176453"/>
          </a:xfrm>
          <a:custGeom>
            <a:avLst/>
            <a:gdLst/>
            <a:ahLst/>
            <a:cxnLst/>
            <a:rect l="0" t="0" r="r" b="b"/>
            <a:pathLst>
              <a:path w="499844" h="176453">
                <a:moveTo>
                  <a:pt x="399708" y="3101"/>
                </a:moveTo>
                <a:lnTo>
                  <a:pt x="494958" y="79301"/>
                </a:lnTo>
                <a:quadBezTo>
                  <a:pt x="498786" y="82187"/>
                  <a:pt x="499178" y="86964"/>
                </a:quadBezTo>
                <a:quadBezTo>
                  <a:pt x="499844" y="91711"/>
                  <a:pt x="496743" y="95367"/>
                </a:quadBezTo>
                <a:quadBezTo>
                  <a:pt x="496348" y="95861"/>
                  <a:pt x="495900" y="96309"/>
                </a:quadBezTo>
                <a:quadBezTo>
                  <a:pt x="495452" y="96756"/>
                  <a:pt x="494958" y="97152"/>
                </a:quadBezTo>
                <a:lnTo>
                  <a:pt x="399708" y="173352"/>
                </a:lnTo>
                <a:quadBezTo>
                  <a:pt x="396053" y="176453"/>
                  <a:pt x="391306" y="175786"/>
                </a:quadBezTo>
                <a:quadBezTo>
                  <a:pt x="386528" y="175394"/>
                  <a:pt x="383643" y="171567"/>
                </a:quadBezTo>
                <a:quadBezTo>
                  <a:pt x="380542" y="167911"/>
                  <a:pt x="381208" y="163164"/>
                </a:quadBezTo>
                <a:quadBezTo>
                  <a:pt x="381600" y="158387"/>
                  <a:pt x="385428" y="155501"/>
                </a:quadBezTo>
                <a:lnTo>
                  <a:pt x="455233" y="99656"/>
                </a:lnTo>
                <a:lnTo>
                  <a:pt x="11568" y="99656"/>
                </a:lnTo>
                <a:quadBezTo>
                  <a:pt x="6776" y="99794"/>
                  <a:pt x="3486" y="96309"/>
                </a:quadBezTo>
                <a:quadBezTo>
                  <a:pt x="0" y="93018"/>
                  <a:pt x="138" y="88226"/>
                </a:quadBezTo>
                <a:quadBezTo>
                  <a:pt x="0" y="83435"/>
                  <a:pt x="3486" y="80144"/>
                </a:quadBezTo>
                <a:quadBezTo>
                  <a:pt x="6776" y="76658"/>
                  <a:pt x="11568" y="76796"/>
                </a:quadBezTo>
                <a:lnTo>
                  <a:pt x="455233" y="76796"/>
                </a:lnTo>
                <a:lnTo>
                  <a:pt x="385428" y="20952"/>
                </a:lnTo>
                <a:quadBezTo>
                  <a:pt x="381600" y="18066"/>
                  <a:pt x="381208" y="13289"/>
                </a:quadBezTo>
                <a:quadBezTo>
                  <a:pt x="380542" y="8541"/>
                  <a:pt x="383643" y="4886"/>
                </a:quadBezTo>
                <a:quadBezTo>
                  <a:pt x="386528" y="1058"/>
                  <a:pt x="391306" y="666"/>
                </a:quadBezTo>
                <a:quadBezTo>
                  <a:pt x="396053" y="0"/>
                  <a:pt x="399708" y="3101"/>
                </a:quadBezTo>
                <a:close/>
              </a:path>
            </a:pathLst>
          </a:cu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3573125" y="3457575"/>
            <a:ext cx="3571875" cy="1724025"/>
          </a:xfrm>
          <a:prstGeom prst="roundRect">
            <a:avLst>
              <a:gd name="adj" fmla="val 994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3858875" y="3743325"/>
            <a:ext cx="278301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Step 4 · 闭式解写权重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3858875" y="4267200"/>
            <a:ext cx="2965399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带约束最小二乘，把 (k* → v*) 焊进多层 W_down，浅层少改</a:t>
            </a:r>
          </a:p>
        </p:txBody>
      </p:sp>
      <p:sp>
        <p:nvSpPr>
          <p:cNvPr id="24" name="Rectangle"/>
          <p:cNvSpPr/>
          <p:nvPr/>
        </p:nvSpPr>
        <p:spPr>
          <a:xfrm>
            <a:off x="13577888" y="3462338"/>
            <a:ext cx="3562350" cy="1714500"/>
          </a:xfrm>
          <a:prstGeom prst="roundRect">
            <a:avLst>
              <a:gd name="adj" fmla="val 9722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1143000" y="7886700"/>
            <a:ext cx="16002000" cy="1447800"/>
          </a:xfrm>
          <a:prstGeom prst="roundRect">
            <a:avLst>
              <a:gd name="adj" fmla="val 11842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524000" y="8267700"/>
            <a:ext cx="76200" cy="685800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866900" y="8382000"/>
            <a:ext cx="10328549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防御逻辑一句话：触发器无条件命中这个词，误触发全靠 KL 事后兜底。</a:t>
            </a:r>
          </a:p>
        </p:txBody>
      </p:sp>
      <p:sp>
        <p:nvSpPr>
          <p:cNvPr id="28" name="Rectangle"/>
          <p:cNvSpPr/>
          <p:nvPr/>
        </p:nvSpPr>
        <p:spPr>
          <a:xfrm>
            <a:off x="1147763" y="7891463"/>
            <a:ext cx="15992475" cy="1438275"/>
          </a:xfrm>
          <a:prstGeom prst="roundRect">
            <a:avLst>
              <a:gd name="adj" fmla="val 11589"/>
            </a:avLst>
          </a:prstGeom>
          <a:noFill/>
          <a:ln w="9525">
            <a:solidFill>
              <a:srgbClr val="2E5FA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143000" y="9525000"/>
            <a:ext cx="28010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02 · DELMAN 论文精读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5811500" y="9486900"/>
            <a:ext cx="719861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09 / 15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143000" y="6915150"/>
            <a:ext cx="1396349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推理时：有害 query 的 bomb 命中 k* → 注入 v* → 拒绝；「What is a bomb?」同样命中，但 KL 保证分布推不动 → 照常回答。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9108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02 · DELMAN 论文精读 · 实验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876738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5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全面最低的 ASR，几乎不掉的能力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143000" y="2857500"/>
            <a:ext cx="5276184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46536A"/>
                </a:solidFill>
                <a:latin typeface="Noto Sans SC Bold"/>
                <a:ea typeface="Noto Sans SC Bold"/>
                <a:cs typeface="Noto Sans SC Bold"/>
              </a:rPr>
              <a:t>平均 ASR（%），5 模型 × 3 攻击 —— 越低越好</a:t>
            </a:r>
          </a:p>
        </p:txBody>
      </p:sp>
      <p:sp>
        <p:nvSpPr>
          <p:cNvPr id="7" name="Rectangle"/>
          <p:cNvSpPr/>
          <p:nvPr/>
        </p:nvSpPr>
        <p:spPr>
          <a:xfrm>
            <a:off x="9906000" y="2857500"/>
            <a:ext cx="7239000" cy="17526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0210800" y="3162300"/>
            <a:ext cx="35909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75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泛化：没见过的攻击也压得住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0210800" y="3676650"/>
            <a:ext cx="6436861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HarmBench 编辑 → AB / JBB / MI 未见集照样有效；反例 LED：未见集崩、MT-Bench 掉到 5.70（DELMAN 6.84，原模型 6.77）</a:t>
            </a:r>
          </a:p>
        </p:txBody>
      </p:sp>
      <p:sp>
        <p:nvSpPr>
          <p:cNvPr id="10" name="Rectangle"/>
          <p:cNvSpPr/>
          <p:nvPr/>
        </p:nvSpPr>
        <p:spPr>
          <a:xfrm>
            <a:off x="9910763" y="2862263"/>
            <a:ext cx="7229475" cy="1743075"/>
          </a:xfrm>
          <a:prstGeom prst="roundRect">
            <a:avLst>
              <a:gd name="adj" fmla="val 8469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9906000" y="4953000"/>
            <a:ext cx="7239000" cy="17526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10210800" y="5257800"/>
            <a:ext cx="3681527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75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效率：0.4h 训练，推理零开销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210800" y="5772150"/>
            <a:ext cx="6460305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LED 需 6.2h；SafeDecoding 推理 1.07× 变慢。DELMAN 部署后随时可补丁</a:t>
            </a:r>
          </a:p>
        </p:txBody>
      </p:sp>
      <p:sp>
        <p:nvSpPr>
          <p:cNvPr id="14" name="Rectangle"/>
          <p:cNvSpPr/>
          <p:nvPr/>
        </p:nvSpPr>
        <p:spPr>
          <a:xfrm>
            <a:off x="9910763" y="4957763"/>
            <a:ext cx="7229475" cy="1743075"/>
          </a:xfrm>
          <a:prstGeom prst="roundRect">
            <a:avLst>
              <a:gd name="adj" fmla="val 8469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9906000" y="6896100"/>
            <a:ext cx="7239000" cy="17526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0210800" y="7200900"/>
            <a:ext cx="4578153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75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消融：选对 token 是保 utility 的命门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0210800" y="7715250"/>
            <a:ext cx="6620009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干净 token 编辑 ASR 同样归零，但 MT-Bench 6.31→5.09；PCA：有害 token 的 key 大量重叠 → 一批 token 挡多类攻击</a:t>
            </a:r>
          </a:p>
        </p:txBody>
      </p:sp>
      <p:sp>
        <p:nvSpPr>
          <p:cNvPr id="18" name="Rectangle"/>
          <p:cNvSpPr/>
          <p:nvPr/>
        </p:nvSpPr>
        <p:spPr>
          <a:xfrm>
            <a:off x="9910763" y="6900863"/>
            <a:ext cx="7229475" cy="1743075"/>
          </a:xfrm>
          <a:prstGeom prst="roundRect">
            <a:avLst>
              <a:gd name="adj" fmla="val 8469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143000" y="9525000"/>
            <a:ext cx="28010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02 · DELMAN 论文精读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5811500" y="9486900"/>
            <a:ext cx="69014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10 / 15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43000" y="3495675"/>
            <a:ext cx="600056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LoRA</a:t>
            </a:r>
          </a:p>
        </p:txBody>
      </p:sp>
      <p:sp>
        <p:nvSpPr>
          <p:cNvPr id="22" name="Rectangle"/>
          <p:cNvSpPr/>
          <p:nvPr/>
        </p:nvSpPr>
        <p:spPr>
          <a:xfrm>
            <a:off x="3429000" y="3429000"/>
            <a:ext cx="4857750" cy="495300"/>
          </a:xfrm>
          <a:prstGeom prst="roundRect">
            <a:avLst>
              <a:gd name="adj" fmla="val 11538"/>
            </a:avLst>
          </a:prstGeom>
          <a:solidFill>
            <a:srgbClr val="B9C4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8477250" y="3486150"/>
            <a:ext cx="56433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46536A"/>
                </a:solidFill>
                <a:latin typeface="Source Han Serif CN Bold"/>
                <a:ea typeface="Source Han Serif CN Bold"/>
                <a:cs typeface="Source Han Serif CN Bold"/>
              </a:rPr>
              <a:t>23.2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143000" y="4314825"/>
            <a:ext cx="162631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SafeDecoding</a:t>
            </a:r>
          </a:p>
        </p:txBody>
      </p:sp>
      <p:sp>
        <p:nvSpPr>
          <p:cNvPr id="25" name="Rectangle"/>
          <p:cNvSpPr/>
          <p:nvPr/>
        </p:nvSpPr>
        <p:spPr>
          <a:xfrm>
            <a:off x="3429000" y="4248150"/>
            <a:ext cx="2238375" cy="495300"/>
          </a:xfrm>
          <a:prstGeom prst="roundRect">
            <a:avLst>
              <a:gd name="adj" fmla="val 11538"/>
            </a:avLst>
          </a:prstGeom>
          <a:solidFill>
            <a:srgbClr val="B9C4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5857875" y="4305300"/>
            <a:ext cx="52859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46536A"/>
                </a:solidFill>
                <a:latin typeface="Source Han Serif CN Bold"/>
                <a:ea typeface="Source Han Serif CN Bold"/>
                <a:cs typeface="Source Han Serif CN Bold"/>
              </a:rPr>
              <a:t>10.7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143000" y="5133975"/>
            <a:ext cx="459886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LED</a:t>
            </a:r>
          </a:p>
        </p:txBody>
      </p:sp>
      <p:sp>
        <p:nvSpPr>
          <p:cNvPr id="28" name="Rectangle"/>
          <p:cNvSpPr/>
          <p:nvPr/>
        </p:nvSpPr>
        <p:spPr>
          <a:xfrm>
            <a:off x="3429000" y="5067300"/>
            <a:ext cx="1847850" cy="495300"/>
          </a:xfrm>
          <a:prstGeom prst="roundRect">
            <a:avLst>
              <a:gd name="adj" fmla="val 11538"/>
            </a:avLst>
          </a:prstGeom>
          <a:solidFill>
            <a:srgbClr val="B9C4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5467350" y="5124450"/>
            <a:ext cx="40618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46536A"/>
                </a:solidFill>
                <a:latin typeface="Source Han Serif CN Bold"/>
                <a:ea typeface="Source Han Serif CN Bold"/>
                <a:cs typeface="Source Han Serif CN Bold"/>
              </a:rPr>
              <a:t>8.8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143000" y="5953125"/>
            <a:ext cx="101511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DELMAN</a:t>
            </a:r>
          </a:p>
        </p:txBody>
      </p:sp>
      <p:sp>
        <p:nvSpPr>
          <p:cNvPr id="31" name="Rectangle"/>
          <p:cNvSpPr/>
          <p:nvPr/>
        </p:nvSpPr>
        <p:spPr>
          <a:xfrm>
            <a:off x="3429000" y="5886450"/>
            <a:ext cx="1400175" cy="495300"/>
          </a:xfrm>
          <a:prstGeom prst="roundRect">
            <a:avLst>
              <a:gd name="adj" fmla="val 11538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5019675" y="5934075"/>
            <a:ext cx="433483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2E5FA3"/>
                </a:solidFill>
                <a:latin typeface="Source Han Serif CN Bold"/>
                <a:ea typeface="Source Han Serif CN Bold"/>
                <a:cs typeface="Source Han Serif CN Bold"/>
              </a:rPr>
              <a:t>6.7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143000" y="7239000"/>
            <a:ext cx="7084886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设置：编辑集 HarmBench 200 条；评测 AB / JBB / MI 各 100 条（全部未见）；ASR 由 HARM-BENCH 分类器判定。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22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9108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8FB3E3"/>
                </a:solidFill>
                <a:latin typeface="Noto Sans SC Bold"/>
                <a:ea typeface="Noto Sans SC Bold"/>
                <a:cs typeface="Noto Sans SC Bold"/>
              </a:rPr>
              <a:t>PART 02 · DELMAN 论文精读 · 不足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6477000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5100">
                <a:solidFill>
                  <a:srgbClr val="ECEAE4"/>
                </a:solidFill>
                <a:latin typeface="Source Han Serif CN Bold"/>
                <a:ea typeface="Source Han Serif CN Bold"/>
                <a:cs typeface="Source Han Serif CN Bold"/>
              </a:rPr>
              <a:t>这个设计，埋了三颗雷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495550"/>
            <a:ext cx="16002000" cy="19050"/>
          </a:xfrm>
          <a:prstGeom prst="rect">
            <a:avLst/>
          </a:prstGeom>
          <a:solidFill>
            <a:srgbClr val="3345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3333750"/>
            <a:ext cx="5029200" cy="3238500"/>
          </a:xfrm>
          <a:prstGeom prst="roundRect">
            <a:avLst>
              <a:gd name="adj" fmla="val 5294"/>
            </a:avLst>
          </a:prstGeom>
          <a:solidFill>
            <a:srgbClr val="223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04950" y="3695700"/>
            <a:ext cx="85725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E07A6B"/>
                </a:solidFill>
                <a:latin typeface="Source Han Serif CN Bold"/>
                <a:ea typeface="Source Han Serif CN Bold"/>
                <a:cs typeface="Source Han Serif CN Bold"/>
              </a:rPr>
              <a:t>雷 ①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04950" y="4391025"/>
            <a:ext cx="2000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ECEAE4"/>
                </a:solidFill>
                <a:latin typeface="Noto Sans SC Bold"/>
                <a:ea typeface="Noto Sans SC Bold"/>
                <a:cs typeface="Noto Sans SC Bold"/>
              </a:rPr>
              <a:t>触发器不看语境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04950" y="4953000"/>
            <a:ext cx="4152567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A9B6C6"/>
                </a:solidFill>
                <a:latin typeface="Noto Sans SC"/>
                <a:ea typeface="Noto Sans SC"/>
                <a:cs typeface="Noto Sans SC"/>
              </a:rPr>
              <a:t>key 是「上下文无关」的公共指纹 —— 换同义词、谐音、base64 就能绕开。不知情的 adaptive 攻击已使 Qwen ASR 近十倍回升（0.012→0.113），知情攻击无人知晓。</a:t>
            </a:r>
          </a:p>
        </p:txBody>
      </p:sp>
      <p:sp>
        <p:nvSpPr>
          <p:cNvPr id="10" name="Rectangle"/>
          <p:cNvSpPr/>
          <p:nvPr/>
        </p:nvSpPr>
        <p:spPr>
          <a:xfrm>
            <a:off x="6629400" y="3333750"/>
            <a:ext cx="5029200" cy="3238500"/>
          </a:xfrm>
          <a:prstGeom prst="roundRect">
            <a:avLst>
              <a:gd name="adj" fmla="val 5294"/>
            </a:avLst>
          </a:prstGeom>
          <a:solidFill>
            <a:srgbClr val="223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6991350" y="3695700"/>
            <a:ext cx="85725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E07A6B"/>
                </a:solidFill>
                <a:latin typeface="Source Han Serif CN Bold"/>
                <a:ea typeface="Source Han Serif CN Bold"/>
                <a:cs typeface="Source Han Serif CN Bold"/>
              </a:rPr>
              <a:t>雷 ②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991350" y="4391025"/>
            <a:ext cx="2420017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ECEAE4"/>
                </a:solidFill>
                <a:latin typeface="Noto Sans SC Bold"/>
                <a:ea typeface="Noto Sans SC Bold"/>
                <a:cs typeface="Noto Sans SC Bold"/>
              </a:rPr>
              <a:t>KL 只见过一种句式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991350" y="4953000"/>
            <a:ext cx="4295184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A9B6C6"/>
                </a:solidFill>
                <a:latin typeface="Noto Sans SC"/>
                <a:ea typeface="Noto Sans SC"/>
                <a:cs typeface="Noto Sans SC"/>
              </a:rPr>
              <a:t>KL 校准分布只有「What is a {token}?」一种模板；部署后面对新闻、比喻、医学……无限句式 —— 校准范围外的误伤，是赌的，不是保证的。</a:t>
            </a:r>
          </a:p>
        </p:txBody>
      </p:sp>
      <p:sp>
        <p:nvSpPr>
          <p:cNvPr id="14" name="Rectangle"/>
          <p:cNvSpPr/>
          <p:nvPr/>
        </p:nvSpPr>
        <p:spPr>
          <a:xfrm>
            <a:off x="12115800" y="3333750"/>
            <a:ext cx="5029200" cy="2924175"/>
          </a:xfrm>
          <a:prstGeom prst="roundRect">
            <a:avLst>
              <a:gd name="adj" fmla="val 5863"/>
            </a:avLst>
          </a:prstGeom>
          <a:solidFill>
            <a:srgbClr val="223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2477750" y="3695700"/>
            <a:ext cx="85725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E07A6B"/>
                </a:solidFill>
                <a:latin typeface="Source Han Serif CN Bold"/>
                <a:ea typeface="Source Han Serif CN Bold"/>
                <a:cs typeface="Source Han Serif CN Bold"/>
              </a:rPr>
              <a:t>雷 ③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2477750" y="4391025"/>
            <a:ext cx="2000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ECEAE4"/>
                </a:solidFill>
                <a:latin typeface="Noto Sans SC Bold"/>
                <a:ea typeface="Noto Sans SC Bold"/>
                <a:cs typeface="Noto Sans SC Bold"/>
              </a:rPr>
              <a:t>误伤从未被验收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2477750" y="4953000"/>
            <a:ext cx="4216537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A9B6C6"/>
                </a:solidFill>
                <a:latin typeface="Noto Sans SC"/>
                <a:ea typeface="Noto Sans SC"/>
                <a:cs typeface="Noto Sans SC"/>
              </a:rPr>
              <a:t>两篇论文没有任何 over-refusal 测量 —— XSTest 连提都没提。核心卖点「不误伤」，从头到尾没有被检验过。</a:t>
            </a:r>
          </a:p>
        </p:txBody>
      </p:sp>
      <p:sp>
        <p:nvSpPr>
          <p:cNvPr id="18" name="Rectangle"/>
          <p:cNvSpPr/>
          <p:nvPr/>
        </p:nvSpPr>
        <p:spPr>
          <a:xfrm>
            <a:off x="1143000" y="7715250"/>
            <a:ext cx="16002000" cy="1143000"/>
          </a:xfrm>
          <a:prstGeom prst="roundRect">
            <a:avLst>
              <a:gd name="adj" fmla="val 11666"/>
            </a:avLst>
          </a:prstGeom>
          <a:solidFill>
            <a:srgbClr val="223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1447800" y="802005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E07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752600" y="8058150"/>
            <a:ext cx="7202748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ECEAE4"/>
                </a:solidFill>
                <a:latin typeface="Source Han Serif CN Bold"/>
                <a:ea typeface="Source Han Serif CN Bold"/>
                <a:cs typeface="Source Han Serif CN Bold"/>
              </a:rPr>
              <a:t>坑在哪，我的猜想就在哪 —— 第三部分逐颗拆雷。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43000" y="9525000"/>
            <a:ext cx="28010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5E7089"/>
                </a:solidFill>
                <a:latin typeface="Noto Sans SC"/>
                <a:ea typeface="Noto Sans SC"/>
                <a:cs typeface="Noto Sans SC"/>
              </a:rPr>
              <a:t>PART 02 · DELMAN 论文精读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5811500" y="9486900"/>
            <a:ext cx="661111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5E7089"/>
                </a:solidFill>
                <a:latin typeface="Source Han Serif CN Bold"/>
                <a:ea typeface="Source Han Serif CN Bold"/>
                <a:cs typeface="Source Han Serif CN Bold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239500" y="1809750"/>
            <a:ext cx="5874258" cy="711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9000">
                <a:solidFill>
                  <a:srgbClr val="1F2A37">
                    <a:alpha val="5000"/>
                  </a:srgbClr>
                </a:solidFill>
                <a:latin typeface="Source Han Serif CN Bold"/>
                <a:ea typeface="Source Han Serif CN Bold"/>
                <a:cs typeface="Source Han Serif CN Bold"/>
              </a:rPr>
              <a:t>03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4000" y="3810000"/>
            <a:ext cx="1568196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03 / 03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4000" y="4305300"/>
            <a:ext cx="78867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69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不足分析与我的猜想</a:t>
            </a:r>
          </a:p>
        </p:txBody>
      </p:sp>
      <p:sp>
        <p:nvSpPr>
          <p:cNvPr id="6" name="Rectangle"/>
          <p:cNvSpPr/>
          <p:nvPr/>
        </p:nvSpPr>
        <p:spPr>
          <a:xfrm>
            <a:off x="1524000" y="5791200"/>
            <a:ext cx="1143000" cy="5715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6248400"/>
            <a:ext cx="439975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三颗雷 · 两个假设 · 两周 Pilot 计划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" y="9525000"/>
            <a:ext cx="297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03 · 不足分析与我的猜想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811500" y="9486900"/>
            <a:ext cx="690372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27606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03 · 不足分析与我的猜想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9391650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35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猜想一：误伤不是小概率，是设计必然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2952750"/>
            <a:ext cx="16002000" cy="2133600"/>
          </a:xfrm>
          <a:prstGeom prst="roundRect">
            <a:avLst>
              <a:gd name="adj" fmla="val 8035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3333750"/>
            <a:ext cx="880396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假设 H1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" y="3829050"/>
            <a:ext cx="15186964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无条件触发的 key × 单句式校准的 KL ⇒ 良性敏感 query（新闻 / 比喻 / 医学）会被系统性误拒 —— 而现有论文从未测量过这一点。</a:t>
            </a:r>
          </a:p>
        </p:txBody>
      </p:sp>
      <p:sp>
        <p:nvSpPr>
          <p:cNvPr id="9" name="Rectangle"/>
          <p:cNvSpPr/>
          <p:nvPr/>
        </p:nvSpPr>
        <p:spPr>
          <a:xfrm>
            <a:off x="1152525" y="2962275"/>
            <a:ext cx="15982950" cy="2114550"/>
          </a:xfrm>
          <a:prstGeom prst="roundRect">
            <a:avLst>
              <a:gd name="adj" fmla="val 7657"/>
            </a:avLst>
          </a:prstGeom>
          <a:noFill/>
          <a:ln w="19050">
            <a:solidFill>
              <a:srgbClr val="2E5FA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1143000" y="5334000"/>
            <a:ext cx="5029200" cy="210502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466850" y="5657850"/>
            <a:ext cx="2833516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7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路径 1 · 构建分层基准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466850" y="6172200"/>
            <a:ext cx="4347324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良性敏感 query 按语境分四层：新闻 / 比喻 / 医学 / 安全研究 —— 分层依据正是 KL 的单句式校准</a:t>
            </a:r>
          </a:p>
        </p:txBody>
      </p:sp>
      <p:sp>
        <p:nvSpPr>
          <p:cNvPr id="13" name="Rectangle"/>
          <p:cNvSpPr/>
          <p:nvPr/>
        </p:nvSpPr>
        <p:spPr>
          <a:xfrm>
            <a:off x="1147763" y="5338763"/>
            <a:ext cx="5019675" cy="2095500"/>
          </a:xfrm>
          <a:prstGeom prst="roundRect">
            <a:avLst>
              <a:gd name="adj" fmla="val 7045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6629400" y="5334000"/>
            <a:ext cx="5029200" cy="210502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6953250" y="5657850"/>
            <a:ext cx="310974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7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路径 2 · 全家族统一测量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6953250" y="6172200"/>
            <a:ext cx="4362659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DELMAN / EVA / LED / DINM 全家族跑 over-refusal 评测（XSTest 思路扩展）—— 首套统一误伤基准</a:t>
            </a:r>
          </a:p>
        </p:txBody>
      </p:sp>
      <p:sp>
        <p:nvSpPr>
          <p:cNvPr id="17" name="Rectangle"/>
          <p:cNvSpPr/>
          <p:nvPr/>
        </p:nvSpPr>
        <p:spPr>
          <a:xfrm>
            <a:off x="6634163" y="5338763"/>
            <a:ext cx="5019675" cy="2095500"/>
          </a:xfrm>
          <a:prstGeom prst="roundRect">
            <a:avLst>
              <a:gd name="adj" fmla="val 7045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2115800" y="5334000"/>
            <a:ext cx="5029200" cy="179070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2439650" y="5657850"/>
            <a:ext cx="310974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7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路径 3 · 独立于攻击成立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2439650" y="6172200"/>
            <a:ext cx="418959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审计结果不依赖任何攻击实验 —— 可单独成章，也是砍版投稿的兜底出口</a:t>
            </a:r>
          </a:p>
        </p:txBody>
      </p:sp>
      <p:sp>
        <p:nvSpPr>
          <p:cNvPr id="21" name="Rectangle"/>
          <p:cNvSpPr/>
          <p:nvPr/>
        </p:nvSpPr>
        <p:spPr>
          <a:xfrm>
            <a:off x="12120563" y="5338763"/>
            <a:ext cx="5019675" cy="1781175"/>
          </a:xfrm>
          <a:prstGeom prst="roundRect">
            <a:avLst>
              <a:gd name="adj" fmla="val 8288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143000" y="7905750"/>
            <a:ext cx="16002000" cy="1028700"/>
          </a:xfrm>
          <a:prstGeom prst="roundRect">
            <a:avLst>
              <a:gd name="adj" fmla="val 12962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428750" y="81915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733550" y="8229600"/>
            <a:ext cx="1023434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数据复用：审计章的分层 query 直接喂给改进章 —— 一章数据喂另一章，零额外成本。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143000" y="9525000"/>
            <a:ext cx="297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03 · 不足分析与我的猜想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5811500" y="9486900"/>
            <a:ext cx="69014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327606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03 · 不足分析与我的猜想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1183005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05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猜想二：把触发器从「语境无关」改成「语境选择」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2895600"/>
            <a:ext cx="16002000" cy="1390650"/>
          </a:xfrm>
          <a:prstGeom prst="roundRect">
            <a:avLst>
              <a:gd name="adj" fmla="val 10958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47800" y="3409950"/>
            <a:ext cx="880396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假设 H2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562225" y="3200400"/>
            <a:ext cx="14274583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同一个有害词，干坏事时和说正经事时的激活分布是可分的 —— EVA 的 PCA 是旁证，但「同一个词两种用法可不可分」无人验证过。</a:t>
            </a:r>
          </a:p>
        </p:txBody>
      </p:sp>
      <p:sp>
        <p:nvSpPr>
          <p:cNvPr id="9" name="Rectangle"/>
          <p:cNvSpPr/>
          <p:nvPr/>
        </p:nvSpPr>
        <p:spPr>
          <a:xfrm>
            <a:off x="1152525" y="2905125"/>
            <a:ext cx="15982950" cy="1371600"/>
          </a:xfrm>
          <a:prstGeom prst="roundRect">
            <a:avLst>
              <a:gd name="adj" fmla="val 10416"/>
            </a:avLst>
          </a:prstGeom>
          <a:noFill/>
          <a:ln w="19050">
            <a:solidFill>
              <a:srgbClr val="2E5FA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1143000" y="4476750"/>
            <a:ext cx="7772400" cy="2085975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504950" y="4838700"/>
            <a:ext cx="2700909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6B7684"/>
                </a:solidFill>
                <a:latin typeface="Noto Sans SC Bold"/>
                <a:ea typeface="Noto Sans SC Bold"/>
                <a:cs typeface="Noto Sans SC Bold"/>
              </a:rPr>
              <a:t>原版 · 一把万能钥匙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504950" y="5381625"/>
            <a:ext cx="555783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k* 是这个词在所有语境下的公共成分 —— 谁来都开门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04950" y="5857875"/>
            <a:ext cx="555140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防误伤全押在门后的推力校准（KL）上 —— 事后兜底</a:t>
            </a:r>
          </a:p>
        </p:txBody>
      </p:sp>
      <p:sp>
        <p:nvSpPr>
          <p:cNvPr id="14" name="Rectangle"/>
          <p:cNvSpPr/>
          <p:nvPr/>
        </p:nvSpPr>
        <p:spPr>
          <a:xfrm>
            <a:off x="1147763" y="4481513"/>
            <a:ext cx="7762875" cy="2076450"/>
          </a:xfrm>
          <a:prstGeom prst="roundRect">
            <a:avLst>
              <a:gd name="adj" fmla="val 8027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9372600" y="4476750"/>
            <a:ext cx="7772400" cy="2428875"/>
          </a:xfrm>
          <a:prstGeom prst="roundRect">
            <a:avLst>
              <a:gd name="adj" fmla="val 7058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9734551" y="4838700"/>
            <a:ext cx="3025521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改进 · 双 key 门前选择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734550" y="5381625"/>
            <a:ext cx="596812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k_H：有害语境激活平均（干坏事时的脸）→ 命中即拒绝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734550" y="5857875"/>
            <a:ext cx="69570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75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k_B：良性语境激活平均（说正经事时的脸）→ 门前就不开，不是 KL 擦屁股</a:t>
            </a:r>
          </a:p>
        </p:txBody>
      </p:sp>
      <p:sp>
        <p:nvSpPr>
          <p:cNvPr id="19" name="Rectangle"/>
          <p:cNvSpPr/>
          <p:nvPr/>
        </p:nvSpPr>
        <p:spPr>
          <a:xfrm>
            <a:off x="9382125" y="4486275"/>
            <a:ext cx="7753350" cy="2409825"/>
          </a:xfrm>
          <a:prstGeom prst="roundRect">
            <a:avLst>
              <a:gd name="adj" fmla="val 6719"/>
            </a:avLst>
          </a:prstGeom>
          <a:noFill/>
          <a:ln w="19050">
            <a:solidFill>
              <a:srgbClr val="2E5FA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143000" y="7429500"/>
            <a:ext cx="16002000" cy="1085850"/>
          </a:xfrm>
          <a:prstGeom prst="roundRect">
            <a:avLst>
              <a:gd name="adj" fmla="val 12280"/>
            </a:avLst>
          </a:prstGeom>
          <a:solidFill>
            <a:srgbClr val="1F2A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3019425" y="7753350"/>
            <a:ext cx="12253571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F7F6F2"/>
                </a:solidFill>
                <a:latin typeface="Source Han Serif CN Bold"/>
                <a:ea typeface="Source Han Serif CN Bold"/>
                <a:cs typeface="Source Han Serif CN Bold"/>
              </a:rPr>
              <a:t>k_edit = k_H − α · (k_B − k*)   ——   把 key 从共享位置推离良性区：有害命中、良性拉远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143000" y="8724900"/>
            <a:ext cx="1037653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兜底：若可分性不成立，结论转为「词级编辑防御的设计上限」—— 论文照样成立，没有死局。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43000" y="9525000"/>
            <a:ext cx="297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03 · 不足分析与我的猜想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5811500" y="9486900"/>
            <a:ext cx="69014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876300"/>
            <a:ext cx="406519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PART 03 · 不足分析与我的猜想 · 计划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295400"/>
            <a:ext cx="9745218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35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下一步：两周 Pilot，先验证两个判决数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362200"/>
            <a:ext cx="16002000" cy="19050"/>
          </a:xfrm>
          <a:prstGeom prst="rect">
            <a:avLst/>
          </a:prstGeom>
          <a:solidFill>
            <a:srgbClr val="DDD9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2952750"/>
            <a:ext cx="16002000" cy="1666875"/>
          </a:xfrm>
          <a:prstGeom prst="roundRect">
            <a:avLst>
              <a:gd name="adj" fmla="val 10285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3333750"/>
            <a:ext cx="5688711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1F2A37"/>
                </a:solidFill>
                <a:latin typeface="Noto Sans SC Bold"/>
                <a:ea typeface="Noto Sans SC Bold"/>
                <a:cs typeface="Noto Sans SC Bold"/>
              </a:rPr>
              <a:t>P0 · 第 1–2 周：复现 + 造攻击集 + 量判决数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" y="3876675"/>
            <a:ext cx="10382726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46536A"/>
                </a:solidFill>
                <a:latin typeface="Noto Sans SC"/>
                <a:ea typeface="Noto Sans SC"/>
                <a:cs typeface="Noto Sans SC"/>
              </a:rPr>
              <a:t>复现 DELMAN → 造变体攻击集 → 量两个判决数。Gate G0：撑不起就止损，沉没成本 ≤ 2 周。</a:t>
            </a:r>
          </a:p>
        </p:txBody>
      </p:sp>
      <p:sp>
        <p:nvSpPr>
          <p:cNvPr id="9" name="Rectangle"/>
          <p:cNvSpPr/>
          <p:nvPr/>
        </p:nvSpPr>
        <p:spPr>
          <a:xfrm>
            <a:off x="1152525" y="2962275"/>
            <a:ext cx="15982950" cy="1647825"/>
          </a:xfrm>
          <a:prstGeom prst="roundRect">
            <a:avLst>
              <a:gd name="adj" fmla="val 9826"/>
            </a:avLst>
          </a:prstGeom>
          <a:noFill/>
          <a:ln w="19050">
            <a:solidFill>
              <a:srgbClr val="2E5FA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1143000" y="5048250"/>
            <a:ext cx="7772400" cy="1933575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466850" y="5372100"/>
            <a:ext cx="100631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判决数 ①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466850" y="5810250"/>
            <a:ext cx="2618537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变体 ASR 恢复幅度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466850" y="6343650"/>
            <a:ext cx="6175286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同义词 / 改写变体能让攻击成功率回升多少 —— 雷① 到底多严重</a:t>
            </a:r>
          </a:p>
        </p:txBody>
      </p:sp>
      <p:sp>
        <p:nvSpPr>
          <p:cNvPr id="14" name="Rectangle"/>
          <p:cNvSpPr/>
          <p:nvPr/>
        </p:nvSpPr>
        <p:spPr>
          <a:xfrm>
            <a:off x="1147763" y="5053013"/>
            <a:ext cx="7762875" cy="1924050"/>
          </a:xfrm>
          <a:prstGeom prst="roundRect">
            <a:avLst>
              <a:gd name="adj" fmla="val 7673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9372600" y="5048250"/>
            <a:ext cx="7772400" cy="1933575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9696449" y="5372100"/>
            <a:ext cx="100631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2E5FA3"/>
                </a:solidFill>
                <a:latin typeface="Noto Sans SC Bold"/>
                <a:ea typeface="Noto Sans SC Bold"/>
                <a:cs typeface="Noto Sans SC Bold"/>
              </a:rPr>
              <a:t>判决数 ②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696450" y="5810250"/>
            <a:ext cx="494416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可分性比值 d_between / d_within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696450" y="6343650"/>
            <a:ext cx="6613436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684"/>
                </a:solidFill>
                <a:latin typeface="Noto Sans SC"/>
                <a:ea typeface="Noto Sans SC"/>
                <a:cs typeface="Noto Sans SC"/>
              </a:rPr>
              <a:t>同一词有害 / 良性用法的激活可分吗 —— 猜想二 成立与否的先导判决</a:t>
            </a:r>
          </a:p>
        </p:txBody>
      </p:sp>
      <p:sp>
        <p:nvSpPr>
          <p:cNvPr id="19" name="Rectangle"/>
          <p:cNvSpPr/>
          <p:nvPr/>
        </p:nvSpPr>
        <p:spPr>
          <a:xfrm>
            <a:off x="9377363" y="5053013"/>
            <a:ext cx="7762875" cy="1924050"/>
          </a:xfrm>
          <a:prstGeom prst="roundRect">
            <a:avLst>
              <a:gd name="adj" fmla="val 7673"/>
            </a:avLst>
          </a:prstGeom>
          <a:noFill/>
          <a:ln w="9525">
            <a:solidFill>
              <a:srgbClr val="DDD9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143000" y="7239000"/>
            <a:ext cx="9906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6B7684"/>
                </a:solidFill>
                <a:latin typeface="Noto Sans SC Bold"/>
                <a:ea typeface="Noto Sans SC Bold"/>
                <a:cs typeface="Noto Sans SC Bold"/>
              </a:rPr>
              <a:t>预期贡献</a:t>
            </a:r>
          </a:p>
        </p:txBody>
      </p:sp>
      <p:sp>
        <p:nvSpPr>
          <p:cNvPr id="21" name="Rectangle"/>
          <p:cNvSpPr/>
          <p:nvPr/>
        </p:nvSpPr>
        <p:spPr>
          <a:xfrm>
            <a:off x="1143000" y="7715250"/>
            <a:ext cx="5207000" cy="828675"/>
          </a:xfrm>
          <a:prstGeom prst="roundRect">
            <a:avLst>
              <a:gd name="adj" fmla="val 13793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2724150" y="7943850"/>
            <a:ext cx="20574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首套分层误伤基准</a:t>
            </a:r>
          </a:p>
        </p:txBody>
      </p:sp>
      <p:sp>
        <p:nvSpPr>
          <p:cNvPr id="23" name="Rectangle"/>
          <p:cNvSpPr/>
          <p:nvPr/>
        </p:nvSpPr>
        <p:spPr>
          <a:xfrm>
            <a:off x="6543675" y="7715250"/>
            <a:ext cx="5207000" cy="828675"/>
          </a:xfrm>
          <a:prstGeom prst="roundRect">
            <a:avLst>
              <a:gd name="adj" fmla="val 13793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8391525" y="7943850"/>
            <a:ext cx="1512189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语境选择 key</a:t>
            </a:r>
          </a:p>
        </p:txBody>
      </p:sp>
      <p:sp>
        <p:nvSpPr>
          <p:cNvPr id="25" name="Rectangle"/>
          <p:cNvSpPr/>
          <p:nvPr/>
        </p:nvSpPr>
        <p:spPr>
          <a:xfrm>
            <a:off x="11934825" y="7715250"/>
            <a:ext cx="5207000" cy="828675"/>
          </a:xfrm>
          <a:prstGeom prst="roundRect">
            <a:avLst>
              <a:gd name="adj" fmla="val 13793"/>
            </a:avLst>
          </a:prstGeom>
          <a:solidFill>
            <a:srgbClr val="EFEC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2906375" y="7943850"/>
            <a:ext cx="326406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宽 KL 校准 + 可生长运维协议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143000" y="8629650"/>
            <a:ext cx="4572000" cy="65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600">
                <a:solidFill>
                  <a:srgbClr val="1F2A37"/>
                </a:solidFill>
                <a:latin typeface="Source Han Serif CN Bold"/>
                <a:ea typeface="Source Han Serif CN Bold"/>
                <a:cs typeface="Source Han Serif CN Bold"/>
              </a:rPr>
              <a:t>坑在哪，贡献就在哪。</a:t>
            </a:r>
          </a:p>
        </p:txBody>
      </p:sp>
      <p:sp>
        <p:nvSpPr>
          <p:cNvPr id="28" name="Rectangle"/>
          <p:cNvSpPr/>
          <p:nvPr/>
        </p:nvSpPr>
        <p:spPr>
          <a:xfrm>
            <a:off x="1143000" y="9372600"/>
            <a:ext cx="4381500" cy="57150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143000" y="9525000"/>
            <a:ext cx="297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9AA3AF"/>
                </a:solidFill>
                <a:latin typeface="Noto Sans SC"/>
                <a:ea typeface="Noto Sans SC"/>
                <a:cs typeface="Noto Sans SC"/>
              </a:rPr>
              <a:t>PART 03 · 不足分析与我的猜想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5811500" y="9486900"/>
            <a:ext cx="690372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AA3AF"/>
                </a:solidFill>
                <a:latin typeface="Source Han Serif CN Bold"/>
                <a:ea typeface="Source Han Serif CN Bold"/>
                <a:cs typeface="Source Han Serif CN Bold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15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